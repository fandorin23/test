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8">
  <p:sldMasterIdLst>
    <p:sldMasterId id="2147483650" r:id="rId1"/>
  </p:sldMasterIdLst>
  <p:notesMasterIdLst>
    <p:notesMasterId r:id="rId19"/>
  </p:notesMasterIdLst>
  <p:handoutMasterIdLst>
    <p:handoutMasterId r:id="rId20"/>
  </p:handoutMasterIdLst>
  <p:sldIdLst>
    <p:sldId id="339" r:id="rId2"/>
    <p:sldId id="444" r:id="rId3"/>
    <p:sldId id="353" r:id="rId4"/>
    <p:sldId id="463" r:id="rId5"/>
    <p:sldId id="454" r:id="rId6"/>
    <p:sldId id="462" r:id="rId7"/>
    <p:sldId id="459" r:id="rId8"/>
    <p:sldId id="460" r:id="rId9"/>
    <p:sldId id="450" r:id="rId10"/>
    <p:sldId id="464" r:id="rId11"/>
    <p:sldId id="471" r:id="rId12"/>
    <p:sldId id="457" r:id="rId13"/>
    <p:sldId id="467" r:id="rId14"/>
    <p:sldId id="468" r:id="rId15"/>
    <p:sldId id="469" r:id="rId16"/>
    <p:sldId id="470" r:id="rId17"/>
    <p:sldId id="458" r:id="rId18"/>
  </p:sldIdLst>
  <p:sldSz cx="9144000" cy="6858000" type="screen4x3"/>
  <p:notesSz cx="6794500" cy="9906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5353"/>
    <a:srgbClr val="0000FF"/>
    <a:srgbClr val="ED1C24"/>
    <a:srgbClr val="2A404A"/>
    <a:srgbClr val="EE3424"/>
    <a:srgbClr val="CE6369"/>
    <a:srgbClr val="B2B2B2"/>
    <a:srgbClr val="FFEFF2"/>
    <a:srgbClr val="FFE8D1"/>
    <a:srgbClr val="FF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31" autoAdjust="0"/>
    <p:restoredTop sz="91697" autoAdjust="0"/>
  </p:normalViewPr>
  <p:slideViewPr>
    <p:cSldViewPr>
      <p:cViewPr>
        <p:scale>
          <a:sx n="70" d="100"/>
          <a:sy n="70" d="100"/>
        </p:scale>
        <p:origin x="-1728" y="-402"/>
      </p:cViewPr>
      <p:guideLst>
        <p:guide orient="horz" pos="2160"/>
        <p:guide pos="2880"/>
        <p:guide pos="5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1938" y="-96"/>
      </p:cViewPr>
      <p:guideLst>
        <p:guide orient="horz" pos="3121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8E234E-3814-461B-AD26-14A9059925F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39DAC4F-04D8-4DEE-AB25-DDE154611B9D}">
      <dgm:prSet phldrT="[Текст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r>
            <a:rPr lang="ru-RU" sz="1600" b="1" dirty="0" smtClean="0"/>
            <a:t>Родственники </a:t>
          </a:r>
          <a:r>
            <a:rPr lang="en-US" sz="1600" b="1" dirty="0" smtClean="0"/>
            <a:t>PEP</a:t>
          </a:r>
          <a:endParaRPr lang="ru-RU" sz="1600" b="1" dirty="0"/>
        </a:p>
      </dgm:t>
    </dgm:pt>
    <dgm:pt modelId="{FDBC380B-8CAD-459A-B659-E5325158B2CB}" type="parTrans" cxnId="{D3B523F6-5A9A-4794-842B-A339F10B66FC}">
      <dgm:prSet/>
      <dgm:spPr/>
      <dgm:t>
        <a:bodyPr/>
        <a:lstStyle/>
        <a:p>
          <a:endParaRPr lang="ru-RU"/>
        </a:p>
      </dgm:t>
    </dgm:pt>
    <dgm:pt modelId="{BC4BBAC1-4ABF-4C14-8A0E-7FDE757DA982}" type="sibTrans" cxnId="{D3B523F6-5A9A-4794-842B-A339F10B66FC}">
      <dgm:prSet/>
      <dgm:spPr/>
      <dgm:t>
        <a:bodyPr/>
        <a:lstStyle/>
        <a:p>
          <a:endParaRPr lang="ru-RU"/>
        </a:p>
      </dgm:t>
    </dgm:pt>
    <dgm:pt modelId="{679EBE97-F9A7-49A5-B94E-FBE00DC3E21E}">
      <dgm:prSet phldrT="[Текст]" custT="1"/>
      <dgm:spPr>
        <a:noFill/>
        <a:ln w="6350"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ru-RU" sz="1600" b="0" dirty="0" smtClean="0">
              <a:latin typeface="+mn-lt"/>
            </a:rPr>
            <a:t>Супруг(а) ВПП/</a:t>
          </a:r>
          <a:r>
            <a:rPr lang="en-GB" sz="1600" b="0" dirty="0" smtClean="0">
              <a:latin typeface="+mn-lt"/>
            </a:rPr>
            <a:t>PEP</a:t>
          </a:r>
          <a:r>
            <a:rPr lang="ru-RU" sz="1600" b="0" dirty="0" smtClean="0">
              <a:latin typeface="+mn-lt"/>
            </a:rPr>
            <a:t>; партнёр / гражданский супруг(а)  ВПП/</a:t>
          </a:r>
          <a:r>
            <a:rPr lang="en-GB" sz="1600" b="0" dirty="0" smtClean="0">
              <a:latin typeface="+mn-lt"/>
            </a:rPr>
            <a:t>PEP</a:t>
          </a:r>
          <a:r>
            <a:rPr lang="ru-RU" sz="1600" b="0" dirty="0" smtClean="0">
              <a:latin typeface="+mn-lt"/>
            </a:rPr>
            <a:t> (без регистрации брака)</a:t>
          </a:r>
          <a:endParaRPr lang="ru-RU" sz="1600" dirty="0">
            <a:latin typeface="+mn-lt"/>
          </a:endParaRPr>
        </a:p>
      </dgm:t>
    </dgm:pt>
    <dgm:pt modelId="{6515940F-BE35-4F1C-9EC4-A9E23E18C36B}" type="parTrans" cxnId="{86CD52AC-9D09-4B0C-9DC8-2375F0623B11}">
      <dgm:prSet/>
      <dgm:spPr/>
      <dgm:t>
        <a:bodyPr/>
        <a:lstStyle/>
        <a:p>
          <a:endParaRPr lang="ru-RU"/>
        </a:p>
      </dgm:t>
    </dgm:pt>
    <dgm:pt modelId="{0344C220-9060-4E0E-89A0-039067F55516}" type="sibTrans" cxnId="{86CD52AC-9D09-4B0C-9DC8-2375F0623B11}">
      <dgm:prSet/>
      <dgm:spPr/>
      <dgm:t>
        <a:bodyPr/>
        <a:lstStyle/>
        <a:p>
          <a:endParaRPr lang="ru-RU"/>
        </a:p>
      </dgm:t>
    </dgm:pt>
    <dgm:pt modelId="{2BF361DD-98BA-422D-B23D-A84B343030C7}">
      <dgm:prSet phldrT="[Текст]" custT="1"/>
      <dgm:spPr>
        <a:noFill/>
        <a:ln w="6350"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ru-RU" sz="1600" b="0" dirty="0" smtClean="0">
              <a:latin typeface="+mn-lt"/>
            </a:rPr>
            <a:t>Родители и дети (в том числе - приёмные) ВПП/</a:t>
          </a:r>
          <a:r>
            <a:rPr lang="en-GB" sz="1600" b="0" dirty="0" smtClean="0">
              <a:latin typeface="+mn-lt"/>
            </a:rPr>
            <a:t>PEP</a:t>
          </a:r>
          <a:endParaRPr lang="ru-RU" sz="1600" dirty="0">
            <a:latin typeface="+mn-lt"/>
          </a:endParaRPr>
        </a:p>
      </dgm:t>
    </dgm:pt>
    <dgm:pt modelId="{371DAAE5-2C26-4B11-B876-851FF003C148}" type="parTrans" cxnId="{BEC28931-D91B-4B20-982B-05132796F814}">
      <dgm:prSet/>
      <dgm:spPr/>
      <dgm:t>
        <a:bodyPr/>
        <a:lstStyle/>
        <a:p>
          <a:endParaRPr lang="ru-RU"/>
        </a:p>
      </dgm:t>
    </dgm:pt>
    <dgm:pt modelId="{69523788-CA3E-4591-8C8C-BF49FC705B28}" type="sibTrans" cxnId="{BEC28931-D91B-4B20-982B-05132796F814}">
      <dgm:prSet/>
      <dgm:spPr/>
      <dgm:t>
        <a:bodyPr/>
        <a:lstStyle/>
        <a:p>
          <a:endParaRPr lang="ru-RU"/>
        </a:p>
      </dgm:t>
    </dgm:pt>
    <dgm:pt modelId="{7D56A43B-266E-472A-9609-7EE9F0CC0D8B}">
      <dgm:prSet phldrT="[Текст]" custT="1"/>
      <dgm:spPr>
        <a:solidFill>
          <a:srgbClr val="EE3424"/>
        </a:solidFill>
      </dgm:spPr>
      <dgm:t>
        <a:bodyPr/>
        <a:lstStyle/>
        <a:p>
          <a:r>
            <a:rPr lang="ru-RU" sz="1600" b="1" dirty="0" smtClean="0"/>
            <a:t>Лица, связанные с  </a:t>
          </a:r>
          <a:r>
            <a:rPr lang="en-US" sz="1600" b="1" dirty="0" smtClean="0"/>
            <a:t>PEP</a:t>
          </a:r>
          <a:endParaRPr lang="ru-RU" sz="1600" dirty="0"/>
        </a:p>
      </dgm:t>
    </dgm:pt>
    <dgm:pt modelId="{BA5114A1-E8C9-4185-95CC-37A365CDF624}" type="parTrans" cxnId="{D29FE89C-3BD8-4EE4-A0C4-8C7BD834B59A}">
      <dgm:prSet/>
      <dgm:spPr/>
      <dgm:t>
        <a:bodyPr/>
        <a:lstStyle/>
        <a:p>
          <a:endParaRPr lang="ru-RU"/>
        </a:p>
      </dgm:t>
    </dgm:pt>
    <dgm:pt modelId="{B03ECB8D-67DE-49CE-B586-1E5977D098EC}" type="sibTrans" cxnId="{D29FE89C-3BD8-4EE4-A0C4-8C7BD834B59A}">
      <dgm:prSet/>
      <dgm:spPr/>
      <dgm:t>
        <a:bodyPr/>
        <a:lstStyle/>
        <a:p>
          <a:endParaRPr lang="ru-RU"/>
        </a:p>
      </dgm:t>
    </dgm:pt>
    <dgm:pt modelId="{51EDE791-94EA-4CEE-89B4-35BB57D14F37}">
      <dgm:prSet phldrT="[Текст]" custT="1"/>
      <dgm:spPr>
        <a:noFill/>
        <a:ln>
          <a:solidFill>
            <a:srgbClr val="E95353">
              <a:alpha val="90000"/>
            </a:srgbClr>
          </a:solidFill>
        </a:ln>
      </dgm:spPr>
      <dgm:t>
        <a:bodyPr/>
        <a:lstStyle/>
        <a:p>
          <a:r>
            <a:rPr lang="ru-RU" sz="1600" b="0" dirty="0" smtClean="0">
              <a:solidFill>
                <a:schemeClr val="tx1"/>
              </a:solidFill>
              <a:latin typeface="+mn-lt"/>
              <a:ea typeface="+mn-ea"/>
              <a:cs typeface="+mn-cs"/>
            </a:rPr>
            <a:t>Фактические совладельцы бизнеса (совместно с ВПП/Родственником ВПП) </a:t>
          </a:r>
          <a:endParaRPr lang="ru-RU" sz="1600" b="0" dirty="0">
            <a:solidFill>
              <a:schemeClr val="tx1"/>
            </a:solidFill>
            <a:latin typeface="+mn-lt"/>
            <a:ea typeface="+mn-ea"/>
            <a:cs typeface="+mn-cs"/>
          </a:endParaRPr>
        </a:p>
      </dgm:t>
    </dgm:pt>
    <dgm:pt modelId="{8797D5D9-9240-45BC-982E-163E1A90502D}" type="parTrans" cxnId="{732BFCFB-5D01-4582-B948-8A9A0669E926}">
      <dgm:prSet/>
      <dgm:spPr/>
      <dgm:t>
        <a:bodyPr/>
        <a:lstStyle/>
        <a:p>
          <a:endParaRPr lang="ru-RU"/>
        </a:p>
      </dgm:t>
    </dgm:pt>
    <dgm:pt modelId="{E398CFB3-216C-4366-8B5B-18F74EE2EAAE}" type="sibTrans" cxnId="{732BFCFB-5D01-4582-B948-8A9A0669E926}">
      <dgm:prSet/>
      <dgm:spPr/>
      <dgm:t>
        <a:bodyPr/>
        <a:lstStyle/>
        <a:p>
          <a:endParaRPr lang="ru-RU"/>
        </a:p>
      </dgm:t>
    </dgm:pt>
    <dgm:pt modelId="{3CE1EC8B-D372-4A95-9B3E-8393FB74B8D0}">
      <dgm:prSet phldrT="[Текст]" custT="1"/>
      <dgm:spPr>
        <a:noFill/>
        <a:ln>
          <a:solidFill>
            <a:srgbClr val="E95353">
              <a:alpha val="90000"/>
            </a:srgbClr>
          </a:solidFill>
        </a:ln>
      </dgm:spPr>
      <dgm:t>
        <a:bodyPr/>
        <a:lstStyle/>
        <a:p>
          <a:r>
            <a:rPr lang="ru-RU" sz="1600" b="0" dirty="0" smtClean="0">
              <a:solidFill>
                <a:schemeClr val="tx1"/>
              </a:solidFill>
              <a:latin typeface="+mn-lt"/>
              <a:ea typeface="+mn-ea"/>
              <a:cs typeface="+mn-cs"/>
            </a:rPr>
            <a:t>Номинальные держатели акций/ долей в интересах ВПП/Родственника ВПП</a:t>
          </a:r>
          <a:endParaRPr lang="ru-RU" sz="1600" b="0" dirty="0">
            <a:solidFill>
              <a:schemeClr val="tx1"/>
            </a:solidFill>
            <a:latin typeface="+mn-lt"/>
            <a:ea typeface="+mn-ea"/>
            <a:cs typeface="+mn-cs"/>
          </a:endParaRPr>
        </a:p>
      </dgm:t>
    </dgm:pt>
    <dgm:pt modelId="{7FB88D4B-3EAB-4F62-B7D0-52AB9A9EAB94}" type="parTrans" cxnId="{45EBAB33-76E9-4897-9208-073D1146774E}">
      <dgm:prSet/>
      <dgm:spPr/>
      <dgm:t>
        <a:bodyPr/>
        <a:lstStyle/>
        <a:p>
          <a:endParaRPr lang="ru-RU"/>
        </a:p>
      </dgm:t>
    </dgm:pt>
    <dgm:pt modelId="{916613C4-C7DA-4CD2-BEFB-C60F524597D2}" type="sibTrans" cxnId="{45EBAB33-76E9-4897-9208-073D1146774E}">
      <dgm:prSet/>
      <dgm:spPr/>
      <dgm:t>
        <a:bodyPr/>
        <a:lstStyle/>
        <a:p>
          <a:endParaRPr lang="ru-RU"/>
        </a:p>
      </dgm:t>
    </dgm:pt>
    <dgm:pt modelId="{550522AB-4683-44E8-80E0-E467C2D3C80A}">
      <dgm:prSet phldrT="[Текст]" custT="1"/>
      <dgm:spPr>
        <a:noFill/>
        <a:ln w="6350"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ru-RU" sz="1600" b="0" dirty="0" smtClean="0">
              <a:latin typeface="+mn-lt"/>
            </a:rPr>
            <a:t>Супруг(а) / партнёр/ гражданский супруг(а) без регистрации брака  родителя или ребёнка ВПП/РЕР</a:t>
          </a:r>
          <a:endParaRPr lang="ru-RU" sz="1600" dirty="0">
            <a:latin typeface="+mn-lt"/>
          </a:endParaRPr>
        </a:p>
      </dgm:t>
    </dgm:pt>
    <dgm:pt modelId="{EDFF902B-DE3F-4B30-A9D8-CDC894239E3F}" type="parTrans" cxnId="{A30DF337-3640-44B4-B1BD-6C778911F95A}">
      <dgm:prSet/>
      <dgm:spPr/>
      <dgm:t>
        <a:bodyPr/>
        <a:lstStyle/>
        <a:p>
          <a:endParaRPr lang="ru-RU"/>
        </a:p>
      </dgm:t>
    </dgm:pt>
    <dgm:pt modelId="{6B2DC040-1B0B-443E-A5DD-260201DD88AC}" type="sibTrans" cxnId="{A30DF337-3640-44B4-B1BD-6C778911F95A}">
      <dgm:prSet/>
      <dgm:spPr/>
      <dgm:t>
        <a:bodyPr/>
        <a:lstStyle/>
        <a:p>
          <a:endParaRPr lang="ru-RU"/>
        </a:p>
      </dgm:t>
    </dgm:pt>
    <dgm:pt modelId="{A791FA61-2C06-4337-8AC5-8B5F783DD04B}">
      <dgm:prSet phldrT="[Текст]" custT="1"/>
      <dgm:spPr>
        <a:noFill/>
        <a:ln w="6350"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ru-RU" sz="1600" b="0" dirty="0" smtClean="0">
              <a:latin typeface="+mn-lt"/>
            </a:rPr>
            <a:t>Полнородные/</a:t>
          </a:r>
          <a:r>
            <a:rPr lang="ru-RU" sz="1600" b="0" dirty="0" err="1" smtClean="0">
              <a:latin typeface="+mn-lt"/>
            </a:rPr>
            <a:t>неполнородные</a:t>
          </a:r>
          <a:r>
            <a:rPr lang="ru-RU" sz="1600" b="0" dirty="0" smtClean="0">
              <a:latin typeface="+mn-lt"/>
            </a:rPr>
            <a:t>/</a:t>
          </a:r>
          <a:r>
            <a:rPr lang="en-US" sz="1600" b="0" dirty="0" smtClean="0">
              <a:latin typeface="+mn-lt"/>
            </a:rPr>
            <a:t> </a:t>
          </a:r>
          <a:r>
            <a:rPr lang="ru-RU" sz="1600" b="0" dirty="0" smtClean="0">
              <a:latin typeface="+mn-lt"/>
            </a:rPr>
            <a:t>сводные братья и сестры, приемные родители ВПП/РЕР</a:t>
          </a:r>
          <a:endParaRPr lang="ru-RU" sz="1600" dirty="0">
            <a:latin typeface="+mn-lt"/>
          </a:endParaRPr>
        </a:p>
      </dgm:t>
    </dgm:pt>
    <dgm:pt modelId="{DA88CFFF-58C4-473C-9C0B-2B1DBEAC2913}" type="parTrans" cxnId="{D2C131E5-710D-4F7E-8787-8401D4314CFE}">
      <dgm:prSet/>
      <dgm:spPr/>
      <dgm:t>
        <a:bodyPr/>
        <a:lstStyle/>
        <a:p>
          <a:endParaRPr lang="ru-RU"/>
        </a:p>
      </dgm:t>
    </dgm:pt>
    <dgm:pt modelId="{E7E42C5D-1B62-457F-B3B2-7FC44F622193}" type="sibTrans" cxnId="{D2C131E5-710D-4F7E-8787-8401D4314CFE}">
      <dgm:prSet/>
      <dgm:spPr/>
      <dgm:t>
        <a:bodyPr/>
        <a:lstStyle/>
        <a:p>
          <a:endParaRPr lang="ru-RU"/>
        </a:p>
      </dgm:t>
    </dgm:pt>
    <dgm:pt modelId="{47FC27F6-E15D-4217-84A4-E19FDADE74FA}">
      <dgm:prSet phldrT="[Текст]" custT="1"/>
      <dgm:spPr>
        <a:noFill/>
        <a:ln w="6350"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ru-RU" sz="1600" b="0" dirty="0" smtClean="0">
              <a:latin typeface="+mn-lt"/>
            </a:rPr>
            <a:t>Дедушка/ бабушка/внук/внучка ВПП</a:t>
          </a:r>
          <a:endParaRPr lang="ru-RU" sz="1600" dirty="0">
            <a:latin typeface="+mn-lt"/>
          </a:endParaRPr>
        </a:p>
      </dgm:t>
    </dgm:pt>
    <dgm:pt modelId="{757A1B39-CBB9-433D-A883-BFB3985B6882}" type="parTrans" cxnId="{D0D53CFF-2343-4F6C-A53F-685CD6AF3961}">
      <dgm:prSet/>
      <dgm:spPr/>
      <dgm:t>
        <a:bodyPr/>
        <a:lstStyle/>
        <a:p>
          <a:endParaRPr lang="ru-RU"/>
        </a:p>
      </dgm:t>
    </dgm:pt>
    <dgm:pt modelId="{C4C20FF8-C89F-4F59-9B9D-94122BE8CA8C}" type="sibTrans" cxnId="{D0D53CFF-2343-4F6C-A53F-685CD6AF3961}">
      <dgm:prSet/>
      <dgm:spPr/>
      <dgm:t>
        <a:bodyPr/>
        <a:lstStyle/>
        <a:p>
          <a:endParaRPr lang="ru-RU"/>
        </a:p>
      </dgm:t>
    </dgm:pt>
    <dgm:pt modelId="{2D1FF511-18B0-4DF0-A6E3-5475F46D5CAD}">
      <dgm:prSet phldrT="[Текст]" custT="1"/>
      <dgm:spPr>
        <a:noFill/>
        <a:ln>
          <a:solidFill>
            <a:srgbClr val="E95353">
              <a:alpha val="90000"/>
            </a:srgbClr>
          </a:solidFill>
        </a:ln>
      </dgm:spPr>
      <dgm:t>
        <a:bodyPr/>
        <a:lstStyle/>
        <a:p>
          <a:r>
            <a:rPr lang="ru-RU" sz="1600" b="0" dirty="0" smtClean="0">
              <a:solidFill>
                <a:schemeClr val="tx1"/>
              </a:solidFill>
              <a:latin typeface="+mn-lt"/>
              <a:ea typeface="+mn-ea"/>
              <a:cs typeface="+mn-cs"/>
            </a:rPr>
            <a:t>Личный секретарь (для действующих глав государств и правительств, а также лидеров/председателей политических партий, представленных </a:t>
          </a:r>
          <a:r>
            <a:rPr lang="ru-RU" sz="1600" dirty="0" smtClean="0"/>
            <a:t>в парламенте) </a:t>
          </a:r>
          <a:endParaRPr lang="ru-RU" sz="1600" dirty="0"/>
        </a:p>
      </dgm:t>
    </dgm:pt>
    <dgm:pt modelId="{67B3584A-8320-4AF9-887F-891BB2E9B811}" type="parTrans" cxnId="{C7CFF364-FB06-4C12-B1BB-9A99930AC02F}">
      <dgm:prSet/>
      <dgm:spPr/>
      <dgm:t>
        <a:bodyPr/>
        <a:lstStyle/>
        <a:p>
          <a:endParaRPr lang="ru-RU"/>
        </a:p>
      </dgm:t>
    </dgm:pt>
    <dgm:pt modelId="{FF4B4B09-7FCC-430D-AD8B-28BEA27623A0}" type="sibTrans" cxnId="{C7CFF364-FB06-4C12-B1BB-9A99930AC02F}">
      <dgm:prSet/>
      <dgm:spPr/>
      <dgm:t>
        <a:bodyPr/>
        <a:lstStyle/>
        <a:p>
          <a:endParaRPr lang="ru-RU"/>
        </a:p>
      </dgm:t>
    </dgm:pt>
    <dgm:pt modelId="{D77D50D8-F693-499E-9AEE-E29F2150EDF3}">
      <dgm:prSet phldrT="[Текст]" custT="1"/>
      <dgm:spPr>
        <a:noFill/>
        <a:ln>
          <a:solidFill>
            <a:srgbClr val="E95353">
              <a:alpha val="90000"/>
            </a:srgbClr>
          </a:solidFill>
        </a:ln>
      </dgm:spPr>
      <dgm:t>
        <a:bodyPr/>
        <a:lstStyle/>
        <a:p>
          <a:r>
            <a:rPr lang="ru-RU" sz="1600" dirty="0" smtClean="0"/>
            <a:t>Лица, связанные с ВПП долговременными дружескими и иными неформальными отношениями (по сведениям из доступных/открытых источников)</a:t>
          </a:r>
          <a:endParaRPr lang="ru-RU" sz="1600" dirty="0"/>
        </a:p>
      </dgm:t>
    </dgm:pt>
    <dgm:pt modelId="{D306BE2A-9C5B-4315-AA6B-F0254F427C0D}" type="parTrans" cxnId="{3688C46C-4F47-4153-95FD-968518E22169}">
      <dgm:prSet/>
      <dgm:spPr/>
      <dgm:t>
        <a:bodyPr/>
        <a:lstStyle/>
        <a:p>
          <a:endParaRPr lang="ru-RU"/>
        </a:p>
      </dgm:t>
    </dgm:pt>
    <dgm:pt modelId="{36CC1769-BED4-4C44-A1DA-26919D5F9C52}" type="sibTrans" cxnId="{3688C46C-4F47-4153-95FD-968518E22169}">
      <dgm:prSet/>
      <dgm:spPr/>
      <dgm:t>
        <a:bodyPr/>
        <a:lstStyle/>
        <a:p>
          <a:endParaRPr lang="ru-RU"/>
        </a:p>
      </dgm:t>
    </dgm:pt>
    <dgm:pt modelId="{E698DEB2-BC8E-42DB-A198-3BECD0EE4B99}" type="pres">
      <dgm:prSet presAssocID="{778E234E-3814-461B-AD26-14A9059925F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931E32A-B56D-4EA5-BCC3-B87C4030E5C9}" type="pres">
      <dgm:prSet presAssocID="{D39DAC4F-04D8-4DEE-AB25-DDE154611B9D}" presName="composite" presStyleCnt="0"/>
      <dgm:spPr/>
    </dgm:pt>
    <dgm:pt modelId="{EF326679-3EFB-4831-BAE1-E77607A9AEC1}" type="pres">
      <dgm:prSet presAssocID="{D39DAC4F-04D8-4DEE-AB25-DDE154611B9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A88E4B-5C48-494E-8A2B-2973DA7B06C2}" type="pres">
      <dgm:prSet presAssocID="{D39DAC4F-04D8-4DEE-AB25-DDE154611B9D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CC1E5B-D325-4500-8A22-9E9993A8ADC3}" type="pres">
      <dgm:prSet presAssocID="{BC4BBAC1-4ABF-4C14-8A0E-7FDE757DA982}" presName="space" presStyleCnt="0"/>
      <dgm:spPr/>
    </dgm:pt>
    <dgm:pt modelId="{1D564833-6183-452C-89C0-D033011E4004}" type="pres">
      <dgm:prSet presAssocID="{7D56A43B-266E-472A-9609-7EE9F0CC0D8B}" presName="composite" presStyleCnt="0"/>
      <dgm:spPr/>
    </dgm:pt>
    <dgm:pt modelId="{0F32CAAC-67AD-46F3-8E81-4CD0B302ED13}" type="pres">
      <dgm:prSet presAssocID="{7D56A43B-266E-472A-9609-7EE9F0CC0D8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F0107B-5B01-45CD-8BC9-93BD4285CD14}" type="pres">
      <dgm:prSet presAssocID="{7D56A43B-266E-472A-9609-7EE9F0CC0D8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688C46C-4F47-4153-95FD-968518E22169}" srcId="{7D56A43B-266E-472A-9609-7EE9F0CC0D8B}" destId="{D77D50D8-F693-499E-9AEE-E29F2150EDF3}" srcOrd="3" destOrd="0" parTransId="{D306BE2A-9C5B-4315-AA6B-F0254F427C0D}" sibTransId="{36CC1769-BED4-4C44-A1DA-26919D5F9C52}"/>
    <dgm:cxn modelId="{397E8E9A-9067-440B-983B-3DB0685978DA}" type="presOf" srcId="{2D1FF511-18B0-4DF0-A6E3-5475F46D5CAD}" destId="{38F0107B-5B01-45CD-8BC9-93BD4285CD14}" srcOrd="0" destOrd="2" presId="urn:microsoft.com/office/officeart/2005/8/layout/hList1"/>
    <dgm:cxn modelId="{A6786F56-6436-40ED-BC6D-7FEB1F6B36B2}" type="presOf" srcId="{47FC27F6-E15D-4217-84A4-E19FDADE74FA}" destId="{07A88E4B-5C48-494E-8A2B-2973DA7B06C2}" srcOrd="0" destOrd="4" presId="urn:microsoft.com/office/officeart/2005/8/layout/hList1"/>
    <dgm:cxn modelId="{DC06F326-AE5F-4100-A572-0FCFB81BD4C1}" type="presOf" srcId="{778E234E-3814-461B-AD26-14A9059925FA}" destId="{E698DEB2-BC8E-42DB-A198-3BECD0EE4B99}" srcOrd="0" destOrd="0" presId="urn:microsoft.com/office/officeart/2005/8/layout/hList1"/>
    <dgm:cxn modelId="{4206CDEB-F069-4D48-9DC3-BFE6D1BB131C}" type="presOf" srcId="{D39DAC4F-04D8-4DEE-AB25-DDE154611B9D}" destId="{EF326679-3EFB-4831-BAE1-E77607A9AEC1}" srcOrd="0" destOrd="0" presId="urn:microsoft.com/office/officeart/2005/8/layout/hList1"/>
    <dgm:cxn modelId="{C7CFF364-FB06-4C12-B1BB-9A99930AC02F}" srcId="{7D56A43B-266E-472A-9609-7EE9F0CC0D8B}" destId="{2D1FF511-18B0-4DF0-A6E3-5475F46D5CAD}" srcOrd="2" destOrd="0" parTransId="{67B3584A-8320-4AF9-887F-891BB2E9B811}" sibTransId="{FF4B4B09-7FCC-430D-AD8B-28BEA27623A0}"/>
    <dgm:cxn modelId="{D0D53CFF-2343-4F6C-A53F-685CD6AF3961}" srcId="{D39DAC4F-04D8-4DEE-AB25-DDE154611B9D}" destId="{47FC27F6-E15D-4217-84A4-E19FDADE74FA}" srcOrd="4" destOrd="0" parTransId="{757A1B39-CBB9-433D-A883-BFB3985B6882}" sibTransId="{C4C20FF8-C89F-4F59-9B9D-94122BE8CA8C}"/>
    <dgm:cxn modelId="{45EBAB33-76E9-4897-9208-073D1146774E}" srcId="{7D56A43B-266E-472A-9609-7EE9F0CC0D8B}" destId="{3CE1EC8B-D372-4A95-9B3E-8393FB74B8D0}" srcOrd="1" destOrd="0" parTransId="{7FB88D4B-3EAB-4F62-B7D0-52AB9A9EAB94}" sibTransId="{916613C4-C7DA-4CD2-BEFB-C60F524597D2}"/>
    <dgm:cxn modelId="{052D51CD-10E0-4E7E-AD46-D59F95522044}" type="presOf" srcId="{679EBE97-F9A7-49A5-B94E-FBE00DC3E21E}" destId="{07A88E4B-5C48-494E-8A2B-2973DA7B06C2}" srcOrd="0" destOrd="0" presId="urn:microsoft.com/office/officeart/2005/8/layout/hList1"/>
    <dgm:cxn modelId="{3873CF46-B135-4598-B28F-714470B146BC}" type="presOf" srcId="{2BF361DD-98BA-422D-B23D-A84B343030C7}" destId="{07A88E4B-5C48-494E-8A2B-2973DA7B06C2}" srcOrd="0" destOrd="1" presId="urn:microsoft.com/office/officeart/2005/8/layout/hList1"/>
    <dgm:cxn modelId="{3F90742C-B897-439F-9AFB-24330741427B}" type="presOf" srcId="{51EDE791-94EA-4CEE-89B4-35BB57D14F37}" destId="{38F0107B-5B01-45CD-8BC9-93BD4285CD14}" srcOrd="0" destOrd="0" presId="urn:microsoft.com/office/officeart/2005/8/layout/hList1"/>
    <dgm:cxn modelId="{86CD52AC-9D09-4B0C-9DC8-2375F0623B11}" srcId="{D39DAC4F-04D8-4DEE-AB25-DDE154611B9D}" destId="{679EBE97-F9A7-49A5-B94E-FBE00DC3E21E}" srcOrd="0" destOrd="0" parTransId="{6515940F-BE35-4F1C-9EC4-A9E23E18C36B}" sibTransId="{0344C220-9060-4E0E-89A0-039067F55516}"/>
    <dgm:cxn modelId="{143EF4F2-32B8-4B43-84B8-9916CBA7FF11}" type="presOf" srcId="{3CE1EC8B-D372-4A95-9B3E-8393FB74B8D0}" destId="{38F0107B-5B01-45CD-8BC9-93BD4285CD14}" srcOrd="0" destOrd="1" presId="urn:microsoft.com/office/officeart/2005/8/layout/hList1"/>
    <dgm:cxn modelId="{3B60D438-174E-4CCD-97FC-255ACE3425ED}" type="presOf" srcId="{7D56A43B-266E-472A-9609-7EE9F0CC0D8B}" destId="{0F32CAAC-67AD-46F3-8E81-4CD0B302ED13}" srcOrd="0" destOrd="0" presId="urn:microsoft.com/office/officeart/2005/8/layout/hList1"/>
    <dgm:cxn modelId="{BEC28931-D91B-4B20-982B-05132796F814}" srcId="{D39DAC4F-04D8-4DEE-AB25-DDE154611B9D}" destId="{2BF361DD-98BA-422D-B23D-A84B343030C7}" srcOrd="1" destOrd="0" parTransId="{371DAAE5-2C26-4B11-B876-851FF003C148}" sibTransId="{69523788-CA3E-4591-8C8C-BF49FC705B28}"/>
    <dgm:cxn modelId="{D29FE89C-3BD8-4EE4-A0C4-8C7BD834B59A}" srcId="{778E234E-3814-461B-AD26-14A9059925FA}" destId="{7D56A43B-266E-472A-9609-7EE9F0CC0D8B}" srcOrd="1" destOrd="0" parTransId="{BA5114A1-E8C9-4185-95CC-37A365CDF624}" sibTransId="{B03ECB8D-67DE-49CE-B586-1E5977D098EC}"/>
    <dgm:cxn modelId="{D3B523F6-5A9A-4794-842B-A339F10B66FC}" srcId="{778E234E-3814-461B-AD26-14A9059925FA}" destId="{D39DAC4F-04D8-4DEE-AB25-DDE154611B9D}" srcOrd="0" destOrd="0" parTransId="{FDBC380B-8CAD-459A-B659-E5325158B2CB}" sibTransId="{BC4BBAC1-4ABF-4C14-8A0E-7FDE757DA982}"/>
    <dgm:cxn modelId="{23E3CA40-B790-4A40-8B34-E935B8792EDF}" type="presOf" srcId="{A791FA61-2C06-4337-8AC5-8B5F783DD04B}" destId="{07A88E4B-5C48-494E-8A2B-2973DA7B06C2}" srcOrd="0" destOrd="3" presId="urn:microsoft.com/office/officeart/2005/8/layout/hList1"/>
    <dgm:cxn modelId="{732BFCFB-5D01-4582-B948-8A9A0669E926}" srcId="{7D56A43B-266E-472A-9609-7EE9F0CC0D8B}" destId="{51EDE791-94EA-4CEE-89B4-35BB57D14F37}" srcOrd="0" destOrd="0" parTransId="{8797D5D9-9240-45BC-982E-163E1A90502D}" sibTransId="{E398CFB3-216C-4366-8B5B-18F74EE2EAAE}"/>
    <dgm:cxn modelId="{5AD5D3C0-4D22-4692-9142-EBBB6F217CD9}" type="presOf" srcId="{550522AB-4683-44E8-80E0-E467C2D3C80A}" destId="{07A88E4B-5C48-494E-8A2B-2973DA7B06C2}" srcOrd="0" destOrd="2" presId="urn:microsoft.com/office/officeart/2005/8/layout/hList1"/>
    <dgm:cxn modelId="{A30DF337-3640-44B4-B1BD-6C778911F95A}" srcId="{D39DAC4F-04D8-4DEE-AB25-DDE154611B9D}" destId="{550522AB-4683-44E8-80E0-E467C2D3C80A}" srcOrd="2" destOrd="0" parTransId="{EDFF902B-DE3F-4B30-A9D8-CDC894239E3F}" sibTransId="{6B2DC040-1B0B-443E-A5DD-260201DD88AC}"/>
    <dgm:cxn modelId="{31286D64-F39B-453C-95F7-50A34E26D0B7}" type="presOf" srcId="{D77D50D8-F693-499E-9AEE-E29F2150EDF3}" destId="{38F0107B-5B01-45CD-8BC9-93BD4285CD14}" srcOrd="0" destOrd="3" presId="urn:microsoft.com/office/officeart/2005/8/layout/hList1"/>
    <dgm:cxn modelId="{D2C131E5-710D-4F7E-8787-8401D4314CFE}" srcId="{D39DAC4F-04D8-4DEE-AB25-DDE154611B9D}" destId="{A791FA61-2C06-4337-8AC5-8B5F783DD04B}" srcOrd="3" destOrd="0" parTransId="{DA88CFFF-58C4-473C-9C0B-2B1DBEAC2913}" sibTransId="{E7E42C5D-1B62-457F-B3B2-7FC44F622193}"/>
    <dgm:cxn modelId="{341E4AC0-F1FB-458D-9E3C-8356FD783105}" type="presParOf" srcId="{E698DEB2-BC8E-42DB-A198-3BECD0EE4B99}" destId="{C931E32A-B56D-4EA5-BCC3-B87C4030E5C9}" srcOrd="0" destOrd="0" presId="urn:microsoft.com/office/officeart/2005/8/layout/hList1"/>
    <dgm:cxn modelId="{FD7CB2E5-AF59-422E-BA48-355D4C5E05C5}" type="presParOf" srcId="{C931E32A-B56D-4EA5-BCC3-B87C4030E5C9}" destId="{EF326679-3EFB-4831-BAE1-E77607A9AEC1}" srcOrd="0" destOrd="0" presId="urn:microsoft.com/office/officeart/2005/8/layout/hList1"/>
    <dgm:cxn modelId="{E57DC766-47DF-4F5A-8AF6-4FBF9D7ACCBB}" type="presParOf" srcId="{C931E32A-B56D-4EA5-BCC3-B87C4030E5C9}" destId="{07A88E4B-5C48-494E-8A2B-2973DA7B06C2}" srcOrd="1" destOrd="0" presId="urn:microsoft.com/office/officeart/2005/8/layout/hList1"/>
    <dgm:cxn modelId="{709E8A61-FCF2-4398-950B-EE03EA32E2EB}" type="presParOf" srcId="{E698DEB2-BC8E-42DB-A198-3BECD0EE4B99}" destId="{57CC1E5B-D325-4500-8A22-9E9993A8ADC3}" srcOrd="1" destOrd="0" presId="urn:microsoft.com/office/officeart/2005/8/layout/hList1"/>
    <dgm:cxn modelId="{597F01BC-CC36-400C-AC9C-F1A85B5225EA}" type="presParOf" srcId="{E698DEB2-BC8E-42DB-A198-3BECD0EE4B99}" destId="{1D564833-6183-452C-89C0-D033011E4004}" srcOrd="2" destOrd="0" presId="urn:microsoft.com/office/officeart/2005/8/layout/hList1"/>
    <dgm:cxn modelId="{4DB049C9-B5EF-4F4E-BE4D-BE6041A2AF14}" type="presParOf" srcId="{1D564833-6183-452C-89C0-D033011E4004}" destId="{0F32CAAC-67AD-46F3-8E81-4CD0B302ED13}" srcOrd="0" destOrd="0" presId="urn:microsoft.com/office/officeart/2005/8/layout/hList1"/>
    <dgm:cxn modelId="{3F934D16-8A83-49DF-A294-F7881F9DC98F}" type="presParOf" srcId="{1D564833-6183-452C-89C0-D033011E4004}" destId="{38F0107B-5B01-45CD-8BC9-93BD4285CD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4F8CC9-CE12-4D30-8639-4E9DAC88D4F0}" type="doc">
      <dgm:prSet loTypeId="urn:microsoft.com/office/officeart/2005/8/layout/radial4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4604A28-3BEB-4128-A377-CB1061C32A54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E95353"/>
        </a:solidFill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ru-RU" sz="1800" b="0" i="0" dirty="0" smtClean="0"/>
            <a:t>Клиент категории РЕР</a:t>
          </a:r>
          <a:endParaRPr lang="ru-RU" sz="1800" b="0" i="0" dirty="0"/>
        </a:p>
      </dgm:t>
    </dgm:pt>
    <dgm:pt modelId="{0FBA56AA-A70C-4B87-8643-BD2A4B472F09}" type="parTrans" cxnId="{6B37420E-BD8D-47F8-90AF-EC7C289D9B50}">
      <dgm:prSet/>
      <dgm:spPr/>
      <dgm:t>
        <a:bodyPr/>
        <a:lstStyle/>
        <a:p>
          <a:endParaRPr lang="ru-RU"/>
        </a:p>
      </dgm:t>
    </dgm:pt>
    <dgm:pt modelId="{46AAA700-2A67-485E-8135-8409DD84244B}" type="sibTrans" cxnId="{6B37420E-BD8D-47F8-90AF-EC7C289D9B50}">
      <dgm:prSet/>
      <dgm:spPr/>
      <dgm:t>
        <a:bodyPr/>
        <a:lstStyle/>
        <a:p>
          <a:endParaRPr lang="ru-RU"/>
        </a:p>
      </dgm:t>
    </dgm:pt>
    <dgm:pt modelId="{34FE4365-4D7B-40B8-9A83-F911E1228042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</dgm:spPr>
      <dgm:t>
        <a:bodyPr/>
        <a:lstStyle/>
        <a:p>
          <a:r>
            <a:rPr lang="ru-RU" sz="1600" b="0" dirty="0" smtClean="0">
              <a:latin typeface="+mn-lt"/>
            </a:rPr>
            <a:t>Исключение из всех коммерческих рассылок банка</a:t>
          </a:r>
          <a:endParaRPr lang="ru-RU" sz="1600" b="0" dirty="0">
            <a:latin typeface="+mn-lt"/>
          </a:endParaRPr>
        </a:p>
      </dgm:t>
    </dgm:pt>
    <dgm:pt modelId="{7CE60577-CFC9-4F1F-BF0C-E898C895BC20}" type="parTrans" cxnId="{2B234579-F4A5-4391-9469-70B6B8A6C62E}">
      <dgm:prSet/>
      <dgm:spPr>
        <a:solidFill>
          <a:schemeClr val="bg1"/>
        </a:solidFill>
        <a:ln w="19050">
          <a:solidFill>
            <a:srgbClr val="FF0000"/>
          </a:solidFill>
        </a:ln>
      </dgm:spPr>
      <dgm:t>
        <a:bodyPr/>
        <a:lstStyle/>
        <a:p>
          <a:endParaRPr lang="ru-RU"/>
        </a:p>
      </dgm:t>
    </dgm:pt>
    <dgm:pt modelId="{09A03BC0-5558-4EF8-8D04-A9BFF5C2ACC9}" type="sibTrans" cxnId="{2B234579-F4A5-4391-9469-70B6B8A6C62E}">
      <dgm:prSet/>
      <dgm:spPr/>
      <dgm:t>
        <a:bodyPr/>
        <a:lstStyle/>
        <a:p>
          <a:endParaRPr lang="ru-RU"/>
        </a:p>
      </dgm:t>
    </dgm:pt>
    <dgm:pt modelId="{825E0404-8294-4F60-87D7-445A24B776A1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</dgm:spPr>
      <dgm:t>
        <a:bodyPr/>
        <a:lstStyle/>
        <a:p>
          <a:r>
            <a:rPr lang="ru-RU" sz="1600" b="0" dirty="0" smtClean="0">
              <a:latin typeface="+mn-lt"/>
            </a:rPr>
            <a:t>Закрепление за специализированным ДО</a:t>
          </a:r>
          <a:endParaRPr lang="en-US" sz="1600" b="0" dirty="0" smtClean="0">
            <a:latin typeface="+mn-lt"/>
          </a:endParaRPr>
        </a:p>
        <a:p>
          <a:r>
            <a:rPr lang="ru-RU" sz="1600" b="0" dirty="0" smtClean="0">
              <a:latin typeface="+mn-lt"/>
            </a:rPr>
            <a:t>Высокий уровень качества обслуживания</a:t>
          </a:r>
        </a:p>
        <a:p>
          <a:r>
            <a:rPr lang="ru-RU" sz="1600" b="0" dirty="0" smtClean="0">
              <a:latin typeface="+mn-lt"/>
            </a:rPr>
            <a:t>Конфиденциальность досье</a:t>
          </a:r>
          <a:endParaRPr lang="ru-RU" sz="1600" b="0" dirty="0">
            <a:latin typeface="+mn-lt"/>
          </a:endParaRPr>
        </a:p>
      </dgm:t>
    </dgm:pt>
    <dgm:pt modelId="{C3675B9E-6800-4882-AC92-339B75F9BB56}" type="parTrans" cxnId="{9A6D0081-F26B-421C-A6B0-F137BF004270}">
      <dgm:prSet/>
      <dgm:spPr>
        <a:solidFill>
          <a:schemeClr val="bg1"/>
        </a:solidFill>
        <a:ln w="19050">
          <a:solidFill>
            <a:srgbClr val="FF0000"/>
          </a:solidFill>
        </a:ln>
      </dgm:spPr>
      <dgm:t>
        <a:bodyPr/>
        <a:lstStyle/>
        <a:p>
          <a:endParaRPr lang="ru-RU"/>
        </a:p>
      </dgm:t>
    </dgm:pt>
    <dgm:pt modelId="{2B138297-E130-4F2B-AB81-F047070306BA}" type="sibTrans" cxnId="{9A6D0081-F26B-421C-A6B0-F137BF004270}">
      <dgm:prSet/>
      <dgm:spPr/>
      <dgm:t>
        <a:bodyPr/>
        <a:lstStyle/>
        <a:p>
          <a:endParaRPr lang="ru-RU"/>
        </a:p>
      </dgm:t>
    </dgm:pt>
    <dgm:pt modelId="{2A12E623-7BE9-431B-AD0A-2D39BBD84C62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chemeClr val="bg1"/>
        </a:solidFill>
      </dgm:spPr>
      <dgm:t>
        <a:bodyPr/>
        <a:lstStyle/>
        <a:p>
          <a:r>
            <a:rPr lang="ru-RU" sz="1600" b="0" dirty="0" smtClean="0">
              <a:latin typeface="+mn-lt"/>
            </a:rPr>
            <a:t>Мониторинг операций</a:t>
          </a:r>
          <a:endParaRPr lang="ru-RU" sz="1600" b="0" dirty="0">
            <a:latin typeface="+mn-lt"/>
          </a:endParaRPr>
        </a:p>
      </dgm:t>
    </dgm:pt>
    <dgm:pt modelId="{7F25A7D9-70CE-426B-9F03-A6A169818F79}" type="parTrans" cxnId="{76486A42-0F43-4A07-AA44-2DA99D4D5097}">
      <dgm:prSet/>
      <dgm:spPr>
        <a:solidFill>
          <a:schemeClr val="bg1"/>
        </a:solidFill>
        <a:ln w="19050">
          <a:solidFill>
            <a:srgbClr val="FF0000"/>
          </a:solidFill>
        </a:ln>
      </dgm:spPr>
      <dgm:t>
        <a:bodyPr/>
        <a:lstStyle/>
        <a:p>
          <a:endParaRPr lang="ru-RU"/>
        </a:p>
      </dgm:t>
    </dgm:pt>
    <dgm:pt modelId="{C00185DE-9081-4A50-A560-6EA707BE31B8}" type="sibTrans" cxnId="{76486A42-0F43-4A07-AA44-2DA99D4D5097}">
      <dgm:prSet/>
      <dgm:spPr/>
      <dgm:t>
        <a:bodyPr/>
        <a:lstStyle/>
        <a:p>
          <a:endParaRPr lang="ru-RU"/>
        </a:p>
      </dgm:t>
    </dgm:pt>
    <dgm:pt modelId="{C54C570E-AFAC-4AC9-B3E0-A14E75BC5F9D}" type="pres">
      <dgm:prSet presAssocID="{3C4F8CC9-CE12-4D30-8639-4E9DAC88D4F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ABE21AD-C92A-4EEC-9D60-4F3C6A8AF972}" type="pres">
      <dgm:prSet presAssocID="{E4604A28-3BEB-4128-A377-CB1061C32A54}" presName="centerShape" presStyleLbl="node0" presStyleIdx="0" presStyleCnt="1"/>
      <dgm:spPr/>
      <dgm:t>
        <a:bodyPr/>
        <a:lstStyle/>
        <a:p>
          <a:endParaRPr lang="ru-RU"/>
        </a:p>
      </dgm:t>
    </dgm:pt>
    <dgm:pt modelId="{A9D5A5DF-56B2-4659-8FF0-504E8AA8A398}" type="pres">
      <dgm:prSet presAssocID="{7CE60577-CFC9-4F1F-BF0C-E898C895BC20}" presName="parTrans" presStyleLbl="bgSibTrans2D1" presStyleIdx="0" presStyleCnt="3"/>
      <dgm:spPr/>
      <dgm:t>
        <a:bodyPr/>
        <a:lstStyle/>
        <a:p>
          <a:endParaRPr lang="ru-RU"/>
        </a:p>
      </dgm:t>
    </dgm:pt>
    <dgm:pt modelId="{09AD2694-B45B-4B8A-B342-F4A6FAB5B4CF}" type="pres">
      <dgm:prSet presAssocID="{34FE4365-4D7B-40B8-9A83-F911E1228042}" presName="node" presStyleLbl="node1" presStyleIdx="0" presStyleCnt="3" custRadScaleRad="99070" custRadScaleInc="-2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4402A1-66B1-437D-9A2D-D165C4B832F0}" type="pres">
      <dgm:prSet presAssocID="{C3675B9E-6800-4882-AC92-339B75F9BB56}" presName="parTrans" presStyleLbl="bgSibTrans2D1" presStyleIdx="1" presStyleCnt="3"/>
      <dgm:spPr/>
      <dgm:t>
        <a:bodyPr/>
        <a:lstStyle/>
        <a:p>
          <a:endParaRPr lang="ru-RU"/>
        </a:p>
      </dgm:t>
    </dgm:pt>
    <dgm:pt modelId="{84D2498B-013A-4148-8316-F114658F47A0}" type="pres">
      <dgm:prSet presAssocID="{825E0404-8294-4F60-87D7-445A24B776A1}" presName="node" presStyleLbl="node1" presStyleIdx="1" presStyleCnt="3" custScaleX="115755" custScaleY="122068" custRadScaleRad="100066" custRadScaleInc="10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1996DB-624B-4BE6-A4F2-F8B9E522D068}" type="pres">
      <dgm:prSet presAssocID="{7F25A7D9-70CE-426B-9F03-A6A169818F79}" presName="parTrans" presStyleLbl="bgSibTrans2D1" presStyleIdx="2" presStyleCnt="3"/>
      <dgm:spPr/>
      <dgm:t>
        <a:bodyPr/>
        <a:lstStyle/>
        <a:p>
          <a:endParaRPr lang="ru-RU"/>
        </a:p>
      </dgm:t>
    </dgm:pt>
    <dgm:pt modelId="{55F56EFA-9A87-4FB5-A4AA-F3829B96A42F}" type="pres">
      <dgm:prSet presAssocID="{2A12E623-7BE9-431B-AD0A-2D39BBD84C6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A6886BD-9C02-4121-A956-5B4A0EFD3835}" type="presOf" srcId="{7F25A7D9-70CE-426B-9F03-A6A169818F79}" destId="{351996DB-624B-4BE6-A4F2-F8B9E522D068}" srcOrd="0" destOrd="0" presId="urn:microsoft.com/office/officeart/2005/8/layout/radial4"/>
    <dgm:cxn modelId="{A84B7DE3-87AD-461F-890F-21D5F1FB8B46}" type="presOf" srcId="{C3675B9E-6800-4882-AC92-339B75F9BB56}" destId="{4A4402A1-66B1-437D-9A2D-D165C4B832F0}" srcOrd="0" destOrd="0" presId="urn:microsoft.com/office/officeart/2005/8/layout/radial4"/>
    <dgm:cxn modelId="{D4FEC335-5050-408C-B23D-FEB04348DF9D}" type="presOf" srcId="{3C4F8CC9-CE12-4D30-8639-4E9DAC88D4F0}" destId="{C54C570E-AFAC-4AC9-B3E0-A14E75BC5F9D}" srcOrd="0" destOrd="0" presId="urn:microsoft.com/office/officeart/2005/8/layout/radial4"/>
    <dgm:cxn modelId="{76486A42-0F43-4A07-AA44-2DA99D4D5097}" srcId="{E4604A28-3BEB-4128-A377-CB1061C32A54}" destId="{2A12E623-7BE9-431B-AD0A-2D39BBD84C62}" srcOrd="2" destOrd="0" parTransId="{7F25A7D9-70CE-426B-9F03-A6A169818F79}" sibTransId="{C00185DE-9081-4A50-A560-6EA707BE31B8}"/>
    <dgm:cxn modelId="{934274D7-FDC0-4BC4-BBF2-7BCF964421DF}" type="presOf" srcId="{E4604A28-3BEB-4128-A377-CB1061C32A54}" destId="{9ABE21AD-C92A-4EEC-9D60-4F3C6A8AF972}" srcOrd="0" destOrd="0" presId="urn:microsoft.com/office/officeart/2005/8/layout/radial4"/>
    <dgm:cxn modelId="{B0801CF0-92E0-4456-A181-F61EC0AFB602}" type="presOf" srcId="{825E0404-8294-4F60-87D7-445A24B776A1}" destId="{84D2498B-013A-4148-8316-F114658F47A0}" srcOrd="0" destOrd="0" presId="urn:microsoft.com/office/officeart/2005/8/layout/radial4"/>
    <dgm:cxn modelId="{6B37420E-BD8D-47F8-90AF-EC7C289D9B50}" srcId="{3C4F8CC9-CE12-4D30-8639-4E9DAC88D4F0}" destId="{E4604A28-3BEB-4128-A377-CB1061C32A54}" srcOrd="0" destOrd="0" parTransId="{0FBA56AA-A70C-4B87-8643-BD2A4B472F09}" sibTransId="{46AAA700-2A67-485E-8135-8409DD84244B}"/>
    <dgm:cxn modelId="{9A6D0081-F26B-421C-A6B0-F137BF004270}" srcId="{E4604A28-3BEB-4128-A377-CB1061C32A54}" destId="{825E0404-8294-4F60-87D7-445A24B776A1}" srcOrd="1" destOrd="0" parTransId="{C3675B9E-6800-4882-AC92-339B75F9BB56}" sibTransId="{2B138297-E130-4F2B-AB81-F047070306BA}"/>
    <dgm:cxn modelId="{D80BA0DD-D042-4309-846C-07ADFCAAB17E}" type="presOf" srcId="{2A12E623-7BE9-431B-AD0A-2D39BBD84C62}" destId="{55F56EFA-9A87-4FB5-A4AA-F3829B96A42F}" srcOrd="0" destOrd="0" presId="urn:microsoft.com/office/officeart/2005/8/layout/radial4"/>
    <dgm:cxn modelId="{BC770C02-086F-4187-9E55-B3EAF557FA84}" type="presOf" srcId="{7CE60577-CFC9-4F1F-BF0C-E898C895BC20}" destId="{A9D5A5DF-56B2-4659-8FF0-504E8AA8A398}" srcOrd="0" destOrd="0" presId="urn:microsoft.com/office/officeart/2005/8/layout/radial4"/>
    <dgm:cxn modelId="{D6CEF67A-730C-4604-9A9D-0856F2C9436A}" type="presOf" srcId="{34FE4365-4D7B-40B8-9A83-F911E1228042}" destId="{09AD2694-B45B-4B8A-B342-F4A6FAB5B4CF}" srcOrd="0" destOrd="0" presId="urn:microsoft.com/office/officeart/2005/8/layout/radial4"/>
    <dgm:cxn modelId="{2B234579-F4A5-4391-9469-70B6B8A6C62E}" srcId="{E4604A28-3BEB-4128-A377-CB1061C32A54}" destId="{34FE4365-4D7B-40B8-9A83-F911E1228042}" srcOrd="0" destOrd="0" parTransId="{7CE60577-CFC9-4F1F-BF0C-E898C895BC20}" sibTransId="{09A03BC0-5558-4EF8-8D04-A9BFF5C2ACC9}"/>
    <dgm:cxn modelId="{06DED62B-2951-4AAF-AF28-5932F1535256}" type="presParOf" srcId="{C54C570E-AFAC-4AC9-B3E0-A14E75BC5F9D}" destId="{9ABE21AD-C92A-4EEC-9D60-4F3C6A8AF972}" srcOrd="0" destOrd="0" presId="urn:microsoft.com/office/officeart/2005/8/layout/radial4"/>
    <dgm:cxn modelId="{7299C901-AA57-4D43-AB2F-24128A0E0278}" type="presParOf" srcId="{C54C570E-AFAC-4AC9-B3E0-A14E75BC5F9D}" destId="{A9D5A5DF-56B2-4659-8FF0-504E8AA8A398}" srcOrd="1" destOrd="0" presId="urn:microsoft.com/office/officeart/2005/8/layout/radial4"/>
    <dgm:cxn modelId="{3B6F8C04-578B-4FE4-A268-2F2E842E378C}" type="presParOf" srcId="{C54C570E-AFAC-4AC9-B3E0-A14E75BC5F9D}" destId="{09AD2694-B45B-4B8A-B342-F4A6FAB5B4CF}" srcOrd="2" destOrd="0" presId="urn:microsoft.com/office/officeart/2005/8/layout/radial4"/>
    <dgm:cxn modelId="{428B5633-EFF5-4BF0-91F2-256C3A4A34DF}" type="presParOf" srcId="{C54C570E-AFAC-4AC9-B3E0-A14E75BC5F9D}" destId="{4A4402A1-66B1-437D-9A2D-D165C4B832F0}" srcOrd="3" destOrd="0" presId="urn:microsoft.com/office/officeart/2005/8/layout/radial4"/>
    <dgm:cxn modelId="{08DB7696-D1E1-4493-B5E0-5716F3D0341D}" type="presParOf" srcId="{C54C570E-AFAC-4AC9-B3E0-A14E75BC5F9D}" destId="{84D2498B-013A-4148-8316-F114658F47A0}" srcOrd="4" destOrd="0" presId="urn:microsoft.com/office/officeart/2005/8/layout/radial4"/>
    <dgm:cxn modelId="{A770E698-A606-4715-9922-0E9F699F9DA5}" type="presParOf" srcId="{C54C570E-AFAC-4AC9-B3E0-A14E75BC5F9D}" destId="{351996DB-624B-4BE6-A4F2-F8B9E522D068}" srcOrd="5" destOrd="0" presId="urn:microsoft.com/office/officeart/2005/8/layout/radial4"/>
    <dgm:cxn modelId="{52EBBB2F-2328-4CA0-BE7E-35250F5B3A8C}" type="presParOf" srcId="{C54C570E-AFAC-4AC9-B3E0-A14E75BC5F9D}" destId="{55F56EFA-9A87-4FB5-A4AA-F3829B96A42F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B78466-DE45-4FB0-A5C5-E06ACD522C5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10B794-0698-438A-888A-0625F2EE7163}">
      <dgm:prSet phldrT="[Текст]" custT="1"/>
      <dgm:spPr/>
      <dgm:t>
        <a:bodyPr/>
        <a:lstStyle/>
        <a:p>
          <a:r>
            <a:rPr lang="ru-RU" sz="1600" b="0" dirty="0" smtClean="0">
              <a:latin typeface="Arial" panose="020B0604020202020204" pitchFamily="34" charset="0"/>
              <a:cs typeface="Arial" panose="020B0604020202020204" pitchFamily="34" charset="0"/>
            </a:rPr>
            <a:t>Клиент может быть идентифицирован в качестве РЕР:</a:t>
          </a:r>
          <a:endParaRPr lang="ru-RU" sz="16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996B79-A237-4990-99D6-79BC3BEBF586}" type="parTrans" cxnId="{6C8C9A4F-83DE-436C-A98D-E586893856FA}">
      <dgm:prSet/>
      <dgm:spPr/>
      <dgm:t>
        <a:bodyPr/>
        <a:lstStyle/>
        <a:p>
          <a:endParaRPr lang="ru-RU"/>
        </a:p>
      </dgm:t>
    </dgm:pt>
    <dgm:pt modelId="{8D10E6B5-B9B7-446F-99A3-5AE20640B1AA}" type="sibTrans" cxnId="{6C8C9A4F-83DE-436C-A98D-E586893856FA}">
      <dgm:prSet/>
      <dgm:spPr/>
      <dgm:t>
        <a:bodyPr/>
        <a:lstStyle/>
        <a:p>
          <a:endParaRPr lang="ru-RU"/>
        </a:p>
      </dgm:t>
    </dgm:pt>
    <dgm:pt modelId="{D68233F7-7B4C-4F47-9176-E12BC415CD96}">
      <dgm:prSet phldrT="[Текст]" custT="1"/>
      <dgm:spPr/>
      <dgm:t>
        <a:bodyPr/>
        <a:lstStyle/>
        <a:p>
          <a:r>
            <a:rPr lang="ru-RU" sz="1400" b="0" dirty="0" smtClean="0">
              <a:latin typeface="Arial" panose="020B0604020202020204" pitchFamily="34" charset="0"/>
              <a:cs typeface="Arial" panose="020B0604020202020204" pitchFamily="34" charset="0"/>
            </a:rPr>
            <a:t>в процессе приема на обслуживание / обновления сведений</a:t>
          </a:r>
          <a:endParaRPr lang="ru-RU" sz="1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FFCF78-D2C6-44F0-B461-9FCEE9C1A4A1}" type="parTrans" cxnId="{9691B1E3-1950-49E3-AC69-D82A4C70B8D3}">
      <dgm:prSet/>
      <dgm:spPr/>
      <dgm:t>
        <a:bodyPr/>
        <a:lstStyle/>
        <a:p>
          <a:endParaRPr lang="ru-RU"/>
        </a:p>
      </dgm:t>
    </dgm:pt>
    <dgm:pt modelId="{766FFF3D-7BCB-4241-813C-1DC8731FAD5B}" type="sibTrans" cxnId="{9691B1E3-1950-49E3-AC69-D82A4C70B8D3}">
      <dgm:prSet/>
      <dgm:spPr/>
      <dgm:t>
        <a:bodyPr/>
        <a:lstStyle/>
        <a:p>
          <a:endParaRPr lang="ru-RU"/>
        </a:p>
      </dgm:t>
    </dgm:pt>
    <dgm:pt modelId="{D6331481-3CEA-471B-80A1-710655F63A4D}">
      <dgm:prSet phldrT="[Текст]" custT="1"/>
      <dgm:spPr/>
      <dgm:t>
        <a:bodyPr/>
        <a:lstStyle/>
        <a:p>
          <a:r>
            <a:rPr lang="ru-RU" sz="1400" b="0" dirty="0" smtClean="0">
              <a:latin typeface="Arial" panose="020B0604020202020204" pitchFamily="34" charset="0"/>
              <a:cs typeface="Arial" panose="020B0604020202020204" pitchFamily="34" charset="0"/>
            </a:rPr>
            <a:t>Клиент сам идентифицирует себя в качестве РЕР при заполнении ТФ-3201-293</a:t>
          </a:r>
          <a:endParaRPr lang="ru-RU" sz="1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FB11C5-09B4-42C9-B0F7-E2373FD66F4B}" type="parTrans" cxnId="{850922E9-27F7-4FFD-9B11-016417FF9E67}">
      <dgm:prSet/>
      <dgm:spPr/>
      <dgm:t>
        <a:bodyPr/>
        <a:lstStyle/>
        <a:p>
          <a:endParaRPr lang="ru-RU"/>
        </a:p>
      </dgm:t>
    </dgm:pt>
    <dgm:pt modelId="{3FC0A80D-6F69-42C1-8E83-FA085BF152E3}" type="sibTrans" cxnId="{850922E9-27F7-4FFD-9B11-016417FF9E67}">
      <dgm:prSet/>
      <dgm:spPr/>
      <dgm:t>
        <a:bodyPr/>
        <a:lstStyle/>
        <a:p>
          <a:endParaRPr lang="ru-RU"/>
        </a:p>
      </dgm:t>
    </dgm:pt>
    <dgm:pt modelId="{A85319EE-B3DB-48FD-9BDD-718E3DC2CA2D}">
      <dgm:prSet phldrT="[Текст]" custT="1"/>
      <dgm:spPr/>
      <dgm:t>
        <a:bodyPr/>
        <a:lstStyle/>
        <a:p>
          <a:r>
            <a:rPr lang="ru-RU" sz="1400" b="0" dirty="0" smtClean="0">
              <a:latin typeface="Arial" panose="020B0604020202020204" pitchFamily="34" charset="0"/>
              <a:cs typeface="Arial" panose="020B0604020202020204" pitchFamily="34" charset="0"/>
            </a:rPr>
            <a:t>выявлено  совпадение в </a:t>
          </a:r>
          <a:r>
            <a:rPr lang="en-US" sz="1400" b="0" dirty="0" smtClean="0">
              <a:latin typeface="Arial" panose="020B0604020202020204" pitchFamily="34" charset="0"/>
              <a:cs typeface="Arial" panose="020B0604020202020204" pitchFamily="34" charset="0"/>
            </a:rPr>
            <a:t>PEP Online</a:t>
          </a:r>
          <a:r>
            <a:rPr lang="ru-RU" sz="1400" b="0" dirty="0" smtClean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sz="1400" b="0" dirty="0" smtClean="0">
              <a:latin typeface="Arial" panose="020B0604020202020204" pitchFamily="34" charset="0"/>
              <a:cs typeface="Arial" panose="020B0604020202020204" pitchFamily="34" charset="0"/>
            </a:rPr>
            <a:t>OCR/</a:t>
          </a:r>
          <a:r>
            <a:rPr lang="en-US" sz="1400" b="0" dirty="0" err="1" smtClean="0">
              <a:latin typeface="Arial" panose="020B0604020202020204" pitchFamily="34" charset="0"/>
              <a:cs typeface="Arial" panose="020B0604020202020204" pitchFamily="34" charset="0"/>
            </a:rPr>
            <a:t>Vizir</a:t>
          </a:r>
          <a:r>
            <a:rPr lang="en-US" sz="1400" b="0" dirty="0" smtClean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ru-RU" sz="1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1B7E32-33AD-40DF-9B9E-DF61CF055B80}" type="parTrans" cxnId="{70629A95-E5F6-448A-82B0-539C2BAA3079}">
      <dgm:prSet/>
      <dgm:spPr/>
      <dgm:t>
        <a:bodyPr/>
        <a:lstStyle/>
        <a:p>
          <a:endParaRPr lang="ru-RU"/>
        </a:p>
      </dgm:t>
    </dgm:pt>
    <dgm:pt modelId="{843C68F0-0796-4CCE-BC9F-D082558BED4B}" type="sibTrans" cxnId="{70629A95-E5F6-448A-82B0-539C2BAA3079}">
      <dgm:prSet/>
      <dgm:spPr/>
      <dgm:t>
        <a:bodyPr/>
        <a:lstStyle/>
        <a:p>
          <a:endParaRPr lang="ru-RU"/>
        </a:p>
      </dgm:t>
    </dgm:pt>
    <dgm:pt modelId="{55FBF144-BB2A-4181-AB5F-CF64BDD4052D}">
      <dgm:prSet phldrT="[Текст]" custT="1"/>
      <dgm:spPr/>
      <dgm:t>
        <a:bodyPr/>
        <a:lstStyle/>
        <a:p>
          <a:r>
            <a:rPr lang="ru-RU" sz="1400" b="0" dirty="0" smtClean="0">
              <a:latin typeface="Arial" panose="020B0604020202020204" pitchFamily="34" charset="0"/>
              <a:cs typeface="Arial" panose="020B0604020202020204" pitchFamily="34" charset="0"/>
            </a:rPr>
            <a:t>в процессе ежеквартальной проверки клиентской базы на наличие совпадений со списками РЕР в системе</a:t>
          </a:r>
          <a:r>
            <a:rPr lang="en-US" sz="1400" b="0" dirty="0" smtClean="0">
              <a:latin typeface="Arial" panose="020B0604020202020204" pitchFamily="34" charset="0"/>
              <a:cs typeface="Arial" panose="020B0604020202020204" pitchFamily="34" charset="0"/>
            </a:rPr>
            <a:t> PEP online (OCR/</a:t>
          </a:r>
          <a:r>
            <a:rPr lang="en-US" sz="1400" b="0" dirty="0" err="1" smtClean="0">
              <a:latin typeface="Arial" panose="020B0604020202020204" pitchFamily="34" charset="0"/>
              <a:cs typeface="Arial" panose="020B0604020202020204" pitchFamily="34" charset="0"/>
            </a:rPr>
            <a:t>Vizir</a:t>
          </a:r>
          <a:r>
            <a:rPr lang="en-US" sz="1400" b="0" dirty="0" smtClean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ru-RU" sz="1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006EDA-CD53-44C1-89A3-731FCAAB2734}" type="parTrans" cxnId="{D743129B-A7CF-496B-AA81-3A41571B3EF9}">
      <dgm:prSet/>
      <dgm:spPr/>
      <dgm:t>
        <a:bodyPr/>
        <a:lstStyle/>
        <a:p>
          <a:endParaRPr lang="ru-RU"/>
        </a:p>
      </dgm:t>
    </dgm:pt>
    <dgm:pt modelId="{6A849C4F-5C86-43B1-A997-CD1CA6F4FD6C}" type="sibTrans" cxnId="{D743129B-A7CF-496B-AA81-3A41571B3EF9}">
      <dgm:prSet/>
      <dgm:spPr/>
      <dgm:t>
        <a:bodyPr/>
        <a:lstStyle/>
        <a:p>
          <a:endParaRPr lang="ru-RU"/>
        </a:p>
      </dgm:t>
    </dgm:pt>
    <dgm:pt modelId="{E91C6046-A24F-4B9C-A031-0BA212EDAA4B}">
      <dgm:prSet phldrT="[Текст]" custT="1"/>
      <dgm:spPr/>
      <dgm:t>
        <a:bodyPr/>
        <a:lstStyle/>
        <a:p>
          <a:r>
            <a:rPr lang="ru-RU" sz="1400" b="0" dirty="0" smtClean="0">
              <a:latin typeface="Arial" panose="020B0604020202020204" pitchFamily="34" charset="0"/>
              <a:cs typeface="Arial" panose="020B0604020202020204" pitchFamily="34" charset="0"/>
            </a:rPr>
            <a:t>должность клиента соответствует критериям РЕР</a:t>
          </a:r>
          <a:endParaRPr lang="ru-RU" sz="14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30C261-C9CE-4215-8FA6-8EA83E01C776}" type="parTrans" cxnId="{00D22BB9-540B-4BC1-A72E-D405A81CED39}">
      <dgm:prSet/>
      <dgm:spPr/>
      <dgm:t>
        <a:bodyPr/>
        <a:lstStyle/>
        <a:p>
          <a:endParaRPr lang="ru-RU"/>
        </a:p>
      </dgm:t>
    </dgm:pt>
    <dgm:pt modelId="{8C719A64-4457-46CC-B715-B8A90451CE61}" type="sibTrans" cxnId="{00D22BB9-540B-4BC1-A72E-D405A81CED39}">
      <dgm:prSet/>
      <dgm:spPr/>
      <dgm:t>
        <a:bodyPr/>
        <a:lstStyle/>
        <a:p>
          <a:endParaRPr lang="ru-RU"/>
        </a:p>
      </dgm:t>
    </dgm:pt>
    <dgm:pt modelId="{D226ABB1-4A6F-42CF-A68A-4CCA31F58666}" type="pres">
      <dgm:prSet presAssocID="{FCB78466-DE45-4FB0-A5C5-E06ACD522C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C5076C56-3DEA-479E-9989-5D168BAC4E47}" type="pres">
      <dgm:prSet presAssocID="{E610B794-0698-438A-888A-0625F2EE7163}" presName="hierRoot1" presStyleCnt="0"/>
      <dgm:spPr/>
    </dgm:pt>
    <dgm:pt modelId="{16210BDA-CDBE-4E7A-A72B-75AB7B3283A1}" type="pres">
      <dgm:prSet presAssocID="{E610B794-0698-438A-888A-0625F2EE7163}" presName="composite" presStyleCnt="0"/>
      <dgm:spPr/>
    </dgm:pt>
    <dgm:pt modelId="{EE4B9888-B318-40BF-873E-E5B2B58BD438}" type="pres">
      <dgm:prSet presAssocID="{E610B794-0698-438A-888A-0625F2EE7163}" presName="background" presStyleLbl="node0" presStyleIdx="0" presStyleCnt="1"/>
      <dgm:spPr/>
    </dgm:pt>
    <dgm:pt modelId="{AD16DE06-F3EE-4172-BDBC-794026D0FDCF}" type="pres">
      <dgm:prSet presAssocID="{E610B794-0698-438A-888A-0625F2EE7163}" presName="text" presStyleLbl="fgAcc0" presStyleIdx="0" presStyleCnt="1" custScaleX="428951" custScaleY="161513" custLinFactX="-49254" custLinFactY="-63853" custLinFactNeighborX="-100000" custLinFactNeighborY="-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2868709-A82D-410A-9F78-16482CE035C3}" type="pres">
      <dgm:prSet presAssocID="{E610B794-0698-438A-888A-0625F2EE7163}" presName="hierChild2" presStyleCnt="0"/>
      <dgm:spPr/>
    </dgm:pt>
    <dgm:pt modelId="{077A3C57-3142-4A19-988D-30BE9F16816D}" type="pres">
      <dgm:prSet presAssocID="{5EFFCF78-D2C6-44F0-B461-9FCEE9C1A4A1}" presName="Name10" presStyleLbl="parChTrans1D2" presStyleIdx="0" presStyleCnt="2"/>
      <dgm:spPr/>
      <dgm:t>
        <a:bodyPr/>
        <a:lstStyle/>
        <a:p>
          <a:endParaRPr lang="ru-RU"/>
        </a:p>
      </dgm:t>
    </dgm:pt>
    <dgm:pt modelId="{E0F63EF3-5A73-43D9-BAF6-360F236BFB4B}" type="pres">
      <dgm:prSet presAssocID="{D68233F7-7B4C-4F47-9176-E12BC415CD96}" presName="hierRoot2" presStyleCnt="0"/>
      <dgm:spPr/>
    </dgm:pt>
    <dgm:pt modelId="{322A0E69-4FC8-436E-8A37-AB6334D0AA85}" type="pres">
      <dgm:prSet presAssocID="{D68233F7-7B4C-4F47-9176-E12BC415CD96}" presName="composite2" presStyleCnt="0"/>
      <dgm:spPr/>
    </dgm:pt>
    <dgm:pt modelId="{A3634093-07D1-4011-87AA-F613E07C6F24}" type="pres">
      <dgm:prSet presAssocID="{D68233F7-7B4C-4F47-9176-E12BC415CD96}" presName="background2" presStyleLbl="node2" presStyleIdx="0" presStyleCnt="2"/>
      <dgm:spPr/>
    </dgm:pt>
    <dgm:pt modelId="{14A491A0-9F6A-40A4-9058-D9DC32B79911}" type="pres">
      <dgm:prSet presAssocID="{D68233F7-7B4C-4F47-9176-E12BC415CD96}" presName="text2" presStyleLbl="fgAcc2" presStyleIdx="0" presStyleCnt="2" custScaleX="321368" custScaleY="161319" custLinFactX="-97837" custLinFactNeighborX="-100000" custLinFactNeighborY="-8552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93FE86B-15FE-4F2A-8E46-B19BDB84E4FE}" type="pres">
      <dgm:prSet presAssocID="{D68233F7-7B4C-4F47-9176-E12BC415CD96}" presName="hierChild3" presStyleCnt="0"/>
      <dgm:spPr/>
    </dgm:pt>
    <dgm:pt modelId="{9F1FD17F-95CC-4FFD-803B-625440D77705}" type="pres">
      <dgm:prSet presAssocID="{FDFB11C5-09B4-42C9-B0F7-E2373FD66F4B}" presName="Name17" presStyleLbl="parChTrans1D3" presStyleIdx="0" presStyleCnt="3"/>
      <dgm:spPr/>
      <dgm:t>
        <a:bodyPr/>
        <a:lstStyle/>
        <a:p>
          <a:endParaRPr lang="ru-RU"/>
        </a:p>
      </dgm:t>
    </dgm:pt>
    <dgm:pt modelId="{ED874258-D2DD-4AC1-B496-E597F2EB4E90}" type="pres">
      <dgm:prSet presAssocID="{D6331481-3CEA-471B-80A1-710655F63A4D}" presName="hierRoot3" presStyleCnt="0"/>
      <dgm:spPr/>
    </dgm:pt>
    <dgm:pt modelId="{BDCF4E21-D3E0-41C5-9517-CB34B56C9445}" type="pres">
      <dgm:prSet presAssocID="{D6331481-3CEA-471B-80A1-710655F63A4D}" presName="composite3" presStyleCnt="0"/>
      <dgm:spPr/>
    </dgm:pt>
    <dgm:pt modelId="{F0657948-9BEA-4247-8D0C-B36FE797B18D}" type="pres">
      <dgm:prSet presAssocID="{D6331481-3CEA-471B-80A1-710655F63A4D}" presName="background3" presStyleLbl="node3" presStyleIdx="0" presStyleCnt="3"/>
      <dgm:spPr>
        <a:solidFill>
          <a:schemeClr val="bg1"/>
        </a:solidFill>
      </dgm:spPr>
    </dgm:pt>
    <dgm:pt modelId="{E2B7E9CA-22E1-46C3-BB93-CC9C2E6B2729}" type="pres">
      <dgm:prSet presAssocID="{D6331481-3CEA-471B-80A1-710655F63A4D}" presName="text3" presStyleLbl="fgAcc3" presStyleIdx="0" presStyleCnt="3" custScaleX="337289" custScaleY="148687" custLinFactNeighborY="-1493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17DDE0A-4243-498D-8B27-65DD93ED6D33}" type="pres">
      <dgm:prSet presAssocID="{D6331481-3CEA-471B-80A1-710655F63A4D}" presName="hierChild4" presStyleCnt="0"/>
      <dgm:spPr/>
    </dgm:pt>
    <dgm:pt modelId="{4D1C8F5B-1B81-4DB9-853D-7A3420D0CD4A}" type="pres">
      <dgm:prSet presAssocID="{651B7E32-33AD-40DF-9B9E-DF61CF055B80}" presName="Name17" presStyleLbl="parChTrans1D3" presStyleIdx="1" presStyleCnt="3"/>
      <dgm:spPr/>
      <dgm:t>
        <a:bodyPr/>
        <a:lstStyle/>
        <a:p>
          <a:endParaRPr lang="ru-RU"/>
        </a:p>
      </dgm:t>
    </dgm:pt>
    <dgm:pt modelId="{17FF50F3-3216-47BF-846B-178442A91CFF}" type="pres">
      <dgm:prSet presAssocID="{A85319EE-B3DB-48FD-9BDD-718E3DC2CA2D}" presName="hierRoot3" presStyleCnt="0"/>
      <dgm:spPr/>
    </dgm:pt>
    <dgm:pt modelId="{B297FEA2-CBC8-4454-967C-13FD9745390F}" type="pres">
      <dgm:prSet presAssocID="{A85319EE-B3DB-48FD-9BDD-718E3DC2CA2D}" presName="composite3" presStyleCnt="0"/>
      <dgm:spPr/>
    </dgm:pt>
    <dgm:pt modelId="{DDFE7029-E864-4BF3-800E-9D74DEA11FB3}" type="pres">
      <dgm:prSet presAssocID="{A85319EE-B3DB-48FD-9BDD-718E3DC2CA2D}" presName="background3" presStyleLbl="node3" presStyleIdx="1" presStyleCnt="3"/>
      <dgm:spPr>
        <a:solidFill>
          <a:schemeClr val="bg1"/>
        </a:solidFill>
      </dgm:spPr>
    </dgm:pt>
    <dgm:pt modelId="{A8BC63D0-1485-4D9C-8688-AE94EFE5245E}" type="pres">
      <dgm:prSet presAssocID="{A85319EE-B3DB-48FD-9BDD-718E3DC2CA2D}" presName="text3" presStyleLbl="fgAcc3" presStyleIdx="1" presStyleCnt="3" custScaleX="298974" custScaleY="148687" custLinFactNeighborX="16009" custLinFactNeighborY="-1493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1B0B371-75FA-4AB3-BCBC-AAD853ECD33E}" type="pres">
      <dgm:prSet presAssocID="{A85319EE-B3DB-48FD-9BDD-718E3DC2CA2D}" presName="hierChild4" presStyleCnt="0"/>
      <dgm:spPr/>
    </dgm:pt>
    <dgm:pt modelId="{41CF6ECD-0896-4F50-BA2D-24AB8B3A0607}" type="pres">
      <dgm:prSet presAssocID="{6430C261-C9CE-4215-8FA6-8EA83E01C776}" presName="Name17" presStyleLbl="parChTrans1D3" presStyleIdx="2" presStyleCnt="3"/>
      <dgm:spPr/>
      <dgm:t>
        <a:bodyPr/>
        <a:lstStyle/>
        <a:p>
          <a:endParaRPr lang="ru-RU"/>
        </a:p>
      </dgm:t>
    </dgm:pt>
    <dgm:pt modelId="{E78377AB-34CC-4A63-9153-7590F2F0E67E}" type="pres">
      <dgm:prSet presAssocID="{E91C6046-A24F-4B9C-A031-0BA212EDAA4B}" presName="hierRoot3" presStyleCnt="0"/>
      <dgm:spPr/>
    </dgm:pt>
    <dgm:pt modelId="{52150CED-6F1C-49EB-AF7A-661E0468C01E}" type="pres">
      <dgm:prSet presAssocID="{E91C6046-A24F-4B9C-A031-0BA212EDAA4B}" presName="composite3" presStyleCnt="0"/>
      <dgm:spPr/>
    </dgm:pt>
    <dgm:pt modelId="{2677FB61-B02C-4624-97F6-454A7E559F36}" type="pres">
      <dgm:prSet presAssocID="{E91C6046-A24F-4B9C-A031-0BA212EDAA4B}" presName="background3" presStyleLbl="node3" presStyleIdx="2" presStyleCnt="3"/>
      <dgm:spPr>
        <a:solidFill>
          <a:schemeClr val="bg1"/>
        </a:solidFill>
      </dgm:spPr>
    </dgm:pt>
    <dgm:pt modelId="{E1DB61C1-02D0-4136-9525-7323049DF903}" type="pres">
      <dgm:prSet presAssocID="{E91C6046-A24F-4B9C-A031-0BA212EDAA4B}" presName="text3" presStyleLbl="fgAcc3" presStyleIdx="2" presStyleCnt="3" custScaleX="246919" custScaleY="148687" custLinFactNeighborX="37696" custLinFactNeighborY="-1493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8A0FE5C-3A64-423E-9016-3282409DCBE5}" type="pres">
      <dgm:prSet presAssocID="{E91C6046-A24F-4B9C-A031-0BA212EDAA4B}" presName="hierChild4" presStyleCnt="0"/>
      <dgm:spPr/>
    </dgm:pt>
    <dgm:pt modelId="{66E9681D-EE9A-4937-AEF1-E4B3269C8ECC}" type="pres">
      <dgm:prSet presAssocID="{68006EDA-CD53-44C1-89A3-731FCAAB2734}" presName="Name10" presStyleLbl="parChTrans1D2" presStyleIdx="1" presStyleCnt="2"/>
      <dgm:spPr/>
      <dgm:t>
        <a:bodyPr/>
        <a:lstStyle/>
        <a:p>
          <a:endParaRPr lang="ru-RU"/>
        </a:p>
      </dgm:t>
    </dgm:pt>
    <dgm:pt modelId="{047BDBA0-60BF-478C-B3CB-EA2D6BAA981B}" type="pres">
      <dgm:prSet presAssocID="{55FBF144-BB2A-4181-AB5F-CF64BDD4052D}" presName="hierRoot2" presStyleCnt="0"/>
      <dgm:spPr/>
    </dgm:pt>
    <dgm:pt modelId="{E3FC460B-28C5-48F3-B424-F54D77E3B857}" type="pres">
      <dgm:prSet presAssocID="{55FBF144-BB2A-4181-AB5F-CF64BDD4052D}" presName="composite2" presStyleCnt="0"/>
      <dgm:spPr/>
    </dgm:pt>
    <dgm:pt modelId="{AE853D5A-5CBE-4B7B-B5DC-F6BC7A42A605}" type="pres">
      <dgm:prSet presAssocID="{55FBF144-BB2A-4181-AB5F-CF64BDD4052D}" presName="background2" presStyleLbl="node2" presStyleIdx="1" presStyleCnt="2"/>
      <dgm:spPr/>
    </dgm:pt>
    <dgm:pt modelId="{45603A53-80CC-4F29-B244-3AF01E360EF2}" type="pres">
      <dgm:prSet presAssocID="{55FBF144-BB2A-4181-AB5F-CF64BDD4052D}" presName="text2" presStyleLbl="fgAcc2" presStyleIdx="1" presStyleCnt="2" custScaleX="463485" custScaleY="175108" custLinFactNeighborX="-28305" custLinFactNeighborY="-8560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6A69617-956B-4572-A6B0-F279D81EE361}" type="pres">
      <dgm:prSet presAssocID="{55FBF144-BB2A-4181-AB5F-CF64BDD4052D}" presName="hierChild3" presStyleCnt="0"/>
      <dgm:spPr/>
    </dgm:pt>
  </dgm:ptLst>
  <dgm:cxnLst>
    <dgm:cxn modelId="{70629A95-E5F6-448A-82B0-539C2BAA3079}" srcId="{D68233F7-7B4C-4F47-9176-E12BC415CD96}" destId="{A85319EE-B3DB-48FD-9BDD-718E3DC2CA2D}" srcOrd="1" destOrd="0" parTransId="{651B7E32-33AD-40DF-9B9E-DF61CF055B80}" sibTransId="{843C68F0-0796-4CCE-BC9F-D082558BED4B}"/>
    <dgm:cxn modelId="{391945BB-815E-43B7-9C35-07A8439A049D}" type="presOf" srcId="{A85319EE-B3DB-48FD-9BDD-718E3DC2CA2D}" destId="{A8BC63D0-1485-4D9C-8688-AE94EFE5245E}" srcOrd="0" destOrd="0" presId="urn:microsoft.com/office/officeart/2005/8/layout/hierarchy1"/>
    <dgm:cxn modelId="{9691B1E3-1950-49E3-AC69-D82A4C70B8D3}" srcId="{E610B794-0698-438A-888A-0625F2EE7163}" destId="{D68233F7-7B4C-4F47-9176-E12BC415CD96}" srcOrd="0" destOrd="0" parTransId="{5EFFCF78-D2C6-44F0-B461-9FCEE9C1A4A1}" sibTransId="{766FFF3D-7BCB-4241-813C-1DC8731FAD5B}"/>
    <dgm:cxn modelId="{8BAA91FA-C763-4C4D-8741-DEF1DBEF91CE}" type="presOf" srcId="{D6331481-3CEA-471B-80A1-710655F63A4D}" destId="{E2B7E9CA-22E1-46C3-BB93-CC9C2E6B2729}" srcOrd="0" destOrd="0" presId="urn:microsoft.com/office/officeart/2005/8/layout/hierarchy1"/>
    <dgm:cxn modelId="{6B195A09-3CF9-4CBE-AC42-4114B5B99666}" type="presOf" srcId="{651B7E32-33AD-40DF-9B9E-DF61CF055B80}" destId="{4D1C8F5B-1B81-4DB9-853D-7A3420D0CD4A}" srcOrd="0" destOrd="0" presId="urn:microsoft.com/office/officeart/2005/8/layout/hierarchy1"/>
    <dgm:cxn modelId="{BE984D43-83D9-421B-AFFC-77350D6F371D}" type="presOf" srcId="{E91C6046-A24F-4B9C-A031-0BA212EDAA4B}" destId="{E1DB61C1-02D0-4136-9525-7323049DF903}" srcOrd="0" destOrd="0" presId="urn:microsoft.com/office/officeart/2005/8/layout/hierarchy1"/>
    <dgm:cxn modelId="{5CCAC676-F83B-421B-B791-0E94267DBEC3}" type="presOf" srcId="{D68233F7-7B4C-4F47-9176-E12BC415CD96}" destId="{14A491A0-9F6A-40A4-9058-D9DC32B79911}" srcOrd="0" destOrd="0" presId="urn:microsoft.com/office/officeart/2005/8/layout/hierarchy1"/>
    <dgm:cxn modelId="{07DBF119-8539-4E07-9DF2-0D76C4E17231}" type="presOf" srcId="{FCB78466-DE45-4FB0-A5C5-E06ACD522C5B}" destId="{D226ABB1-4A6F-42CF-A68A-4CCA31F58666}" srcOrd="0" destOrd="0" presId="urn:microsoft.com/office/officeart/2005/8/layout/hierarchy1"/>
    <dgm:cxn modelId="{A63B28DA-7013-4250-A46E-E67ABDE5A510}" type="presOf" srcId="{6430C261-C9CE-4215-8FA6-8EA83E01C776}" destId="{41CF6ECD-0896-4F50-BA2D-24AB8B3A0607}" srcOrd="0" destOrd="0" presId="urn:microsoft.com/office/officeart/2005/8/layout/hierarchy1"/>
    <dgm:cxn modelId="{6C8C9A4F-83DE-436C-A98D-E586893856FA}" srcId="{FCB78466-DE45-4FB0-A5C5-E06ACD522C5B}" destId="{E610B794-0698-438A-888A-0625F2EE7163}" srcOrd="0" destOrd="0" parTransId="{C1996B79-A237-4990-99D6-79BC3BEBF586}" sibTransId="{8D10E6B5-B9B7-446F-99A3-5AE20640B1AA}"/>
    <dgm:cxn modelId="{00D22BB9-540B-4BC1-A72E-D405A81CED39}" srcId="{D68233F7-7B4C-4F47-9176-E12BC415CD96}" destId="{E91C6046-A24F-4B9C-A031-0BA212EDAA4B}" srcOrd="2" destOrd="0" parTransId="{6430C261-C9CE-4215-8FA6-8EA83E01C776}" sibTransId="{8C719A64-4457-46CC-B715-B8A90451CE61}"/>
    <dgm:cxn modelId="{D743129B-A7CF-496B-AA81-3A41571B3EF9}" srcId="{E610B794-0698-438A-888A-0625F2EE7163}" destId="{55FBF144-BB2A-4181-AB5F-CF64BDD4052D}" srcOrd="1" destOrd="0" parTransId="{68006EDA-CD53-44C1-89A3-731FCAAB2734}" sibTransId="{6A849C4F-5C86-43B1-A997-CD1CA6F4FD6C}"/>
    <dgm:cxn modelId="{E18C4557-1CF9-49F5-8DCA-D24E4058FFD4}" type="presOf" srcId="{5EFFCF78-D2C6-44F0-B461-9FCEE9C1A4A1}" destId="{077A3C57-3142-4A19-988D-30BE9F16816D}" srcOrd="0" destOrd="0" presId="urn:microsoft.com/office/officeart/2005/8/layout/hierarchy1"/>
    <dgm:cxn modelId="{F2C22E47-10DC-4FFC-A7CB-EF3683E9CA15}" type="presOf" srcId="{55FBF144-BB2A-4181-AB5F-CF64BDD4052D}" destId="{45603A53-80CC-4F29-B244-3AF01E360EF2}" srcOrd="0" destOrd="0" presId="urn:microsoft.com/office/officeart/2005/8/layout/hierarchy1"/>
    <dgm:cxn modelId="{C681C1BD-3F21-4530-AD75-1AF10CD1EB44}" type="presOf" srcId="{E610B794-0698-438A-888A-0625F2EE7163}" destId="{AD16DE06-F3EE-4172-BDBC-794026D0FDCF}" srcOrd="0" destOrd="0" presId="urn:microsoft.com/office/officeart/2005/8/layout/hierarchy1"/>
    <dgm:cxn modelId="{AE98DBB8-83B1-42E0-B26F-FBBF6F9D1F1D}" type="presOf" srcId="{FDFB11C5-09B4-42C9-B0F7-E2373FD66F4B}" destId="{9F1FD17F-95CC-4FFD-803B-625440D77705}" srcOrd="0" destOrd="0" presId="urn:microsoft.com/office/officeart/2005/8/layout/hierarchy1"/>
    <dgm:cxn modelId="{850922E9-27F7-4FFD-9B11-016417FF9E67}" srcId="{D68233F7-7B4C-4F47-9176-E12BC415CD96}" destId="{D6331481-3CEA-471B-80A1-710655F63A4D}" srcOrd="0" destOrd="0" parTransId="{FDFB11C5-09B4-42C9-B0F7-E2373FD66F4B}" sibTransId="{3FC0A80D-6F69-42C1-8E83-FA085BF152E3}"/>
    <dgm:cxn modelId="{D946C29C-F91A-42EA-9B68-73AF78433206}" type="presOf" srcId="{68006EDA-CD53-44C1-89A3-731FCAAB2734}" destId="{66E9681D-EE9A-4937-AEF1-E4B3269C8ECC}" srcOrd="0" destOrd="0" presId="urn:microsoft.com/office/officeart/2005/8/layout/hierarchy1"/>
    <dgm:cxn modelId="{85A058F5-03B8-4ED3-A8CB-1253F7616C77}" type="presParOf" srcId="{D226ABB1-4A6F-42CF-A68A-4CCA31F58666}" destId="{C5076C56-3DEA-479E-9989-5D168BAC4E47}" srcOrd="0" destOrd="0" presId="urn:microsoft.com/office/officeart/2005/8/layout/hierarchy1"/>
    <dgm:cxn modelId="{1916CF29-E350-4D43-A3F9-086D0DE76B16}" type="presParOf" srcId="{C5076C56-3DEA-479E-9989-5D168BAC4E47}" destId="{16210BDA-CDBE-4E7A-A72B-75AB7B3283A1}" srcOrd="0" destOrd="0" presId="urn:microsoft.com/office/officeart/2005/8/layout/hierarchy1"/>
    <dgm:cxn modelId="{76C039F5-F3AF-43BA-AC4C-0AC156424600}" type="presParOf" srcId="{16210BDA-CDBE-4E7A-A72B-75AB7B3283A1}" destId="{EE4B9888-B318-40BF-873E-E5B2B58BD438}" srcOrd="0" destOrd="0" presId="urn:microsoft.com/office/officeart/2005/8/layout/hierarchy1"/>
    <dgm:cxn modelId="{CF5D1BDB-12A3-47B7-8414-66FA388737AF}" type="presParOf" srcId="{16210BDA-CDBE-4E7A-A72B-75AB7B3283A1}" destId="{AD16DE06-F3EE-4172-BDBC-794026D0FDCF}" srcOrd="1" destOrd="0" presId="urn:microsoft.com/office/officeart/2005/8/layout/hierarchy1"/>
    <dgm:cxn modelId="{4C85F367-EE4A-40B0-8A9C-50965700CA8F}" type="presParOf" srcId="{C5076C56-3DEA-479E-9989-5D168BAC4E47}" destId="{42868709-A82D-410A-9F78-16482CE035C3}" srcOrd="1" destOrd="0" presId="urn:microsoft.com/office/officeart/2005/8/layout/hierarchy1"/>
    <dgm:cxn modelId="{250B802D-C6DE-4DD1-9D95-65A4C5AFA5B2}" type="presParOf" srcId="{42868709-A82D-410A-9F78-16482CE035C3}" destId="{077A3C57-3142-4A19-988D-30BE9F16816D}" srcOrd="0" destOrd="0" presId="urn:microsoft.com/office/officeart/2005/8/layout/hierarchy1"/>
    <dgm:cxn modelId="{EF76AEA9-75BE-49AA-9C4C-6A382B61D85E}" type="presParOf" srcId="{42868709-A82D-410A-9F78-16482CE035C3}" destId="{E0F63EF3-5A73-43D9-BAF6-360F236BFB4B}" srcOrd="1" destOrd="0" presId="urn:microsoft.com/office/officeart/2005/8/layout/hierarchy1"/>
    <dgm:cxn modelId="{A98E0719-B6FD-4E08-9057-8128FB1BEAA5}" type="presParOf" srcId="{E0F63EF3-5A73-43D9-BAF6-360F236BFB4B}" destId="{322A0E69-4FC8-436E-8A37-AB6334D0AA85}" srcOrd="0" destOrd="0" presId="urn:microsoft.com/office/officeart/2005/8/layout/hierarchy1"/>
    <dgm:cxn modelId="{29239846-5B1D-4DF6-B663-0877EA52A933}" type="presParOf" srcId="{322A0E69-4FC8-436E-8A37-AB6334D0AA85}" destId="{A3634093-07D1-4011-87AA-F613E07C6F24}" srcOrd="0" destOrd="0" presId="urn:microsoft.com/office/officeart/2005/8/layout/hierarchy1"/>
    <dgm:cxn modelId="{92C2BEA5-32B8-4C74-9C0A-52C310852E03}" type="presParOf" srcId="{322A0E69-4FC8-436E-8A37-AB6334D0AA85}" destId="{14A491A0-9F6A-40A4-9058-D9DC32B79911}" srcOrd="1" destOrd="0" presId="urn:microsoft.com/office/officeart/2005/8/layout/hierarchy1"/>
    <dgm:cxn modelId="{9F9E813A-C91F-4191-8187-BAB9B767BE61}" type="presParOf" srcId="{E0F63EF3-5A73-43D9-BAF6-360F236BFB4B}" destId="{393FE86B-15FE-4F2A-8E46-B19BDB84E4FE}" srcOrd="1" destOrd="0" presId="urn:microsoft.com/office/officeart/2005/8/layout/hierarchy1"/>
    <dgm:cxn modelId="{21EFDA9F-BC0E-4E54-A7A2-8E19387213FF}" type="presParOf" srcId="{393FE86B-15FE-4F2A-8E46-B19BDB84E4FE}" destId="{9F1FD17F-95CC-4FFD-803B-625440D77705}" srcOrd="0" destOrd="0" presId="urn:microsoft.com/office/officeart/2005/8/layout/hierarchy1"/>
    <dgm:cxn modelId="{4F27DAFA-4615-4259-91BC-83DCF76BAE78}" type="presParOf" srcId="{393FE86B-15FE-4F2A-8E46-B19BDB84E4FE}" destId="{ED874258-D2DD-4AC1-B496-E597F2EB4E90}" srcOrd="1" destOrd="0" presId="urn:microsoft.com/office/officeart/2005/8/layout/hierarchy1"/>
    <dgm:cxn modelId="{3F60E346-BDC3-4A38-8F07-F0945F3CCB02}" type="presParOf" srcId="{ED874258-D2DD-4AC1-B496-E597F2EB4E90}" destId="{BDCF4E21-D3E0-41C5-9517-CB34B56C9445}" srcOrd="0" destOrd="0" presId="urn:microsoft.com/office/officeart/2005/8/layout/hierarchy1"/>
    <dgm:cxn modelId="{1ED850A9-BCEA-499D-92AD-B99CF5265B20}" type="presParOf" srcId="{BDCF4E21-D3E0-41C5-9517-CB34B56C9445}" destId="{F0657948-9BEA-4247-8D0C-B36FE797B18D}" srcOrd="0" destOrd="0" presId="urn:microsoft.com/office/officeart/2005/8/layout/hierarchy1"/>
    <dgm:cxn modelId="{B3668CC2-21CA-448F-8DB1-392D8CAB7D10}" type="presParOf" srcId="{BDCF4E21-D3E0-41C5-9517-CB34B56C9445}" destId="{E2B7E9CA-22E1-46C3-BB93-CC9C2E6B2729}" srcOrd="1" destOrd="0" presId="urn:microsoft.com/office/officeart/2005/8/layout/hierarchy1"/>
    <dgm:cxn modelId="{BA751610-5DD6-4D23-A980-15156F7E1ACC}" type="presParOf" srcId="{ED874258-D2DD-4AC1-B496-E597F2EB4E90}" destId="{017DDE0A-4243-498D-8B27-65DD93ED6D33}" srcOrd="1" destOrd="0" presId="urn:microsoft.com/office/officeart/2005/8/layout/hierarchy1"/>
    <dgm:cxn modelId="{6384EDFD-4E34-492D-BDD1-73098800FDC3}" type="presParOf" srcId="{393FE86B-15FE-4F2A-8E46-B19BDB84E4FE}" destId="{4D1C8F5B-1B81-4DB9-853D-7A3420D0CD4A}" srcOrd="2" destOrd="0" presId="urn:microsoft.com/office/officeart/2005/8/layout/hierarchy1"/>
    <dgm:cxn modelId="{95323C71-6231-4FBA-89B3-B8E0ED567D48}" type="presParOf" srcId="{393FE86B-15FE-4F2A-8E46-B19BDB84E4FE}" destId="{17FF50F3-3216-47BF-846B-178442A91CFF}" srcOrd="3" destOrd="0" presId="urn:microsoft.com/office/officeart/2005/8/layout/hierarchy1"/>
    <dgm:cxn modelId="{470AA703-4B71-47F2-BAB5-024F0450DEF9}" type="presParOf" srcId="{17FF50F3-3216-47BF-846B-178442A91CFF}" destId="{B297FEA2-CBC8-4454-967C-13FD9745390F}" srcOrd="0" destOrd="0" presId="urn:microsoft.com/office/officeart/2005/8/layout/hierarchy1"/>
    <dgm:cxn modelId="{1A031F1E-1512-421C-A508-2DAD2B88D3AA}" type="presParOf" srcId="{B297FEA2-CBC8-4454-967C-13FD9745390F}" destId="{DDFE7029-E864-4BF3-800E-9D74DEA11FB3}" srcOrd="0" destOrd="0" presId="urn:microsoft.com/office/officeart/2005/8/layout/hierarchy1"/>
    <dgm:cxn modelId="{A219582A-9082-45E7-9739-7EB0EAA15F61}" type="presParOf" srcId="{B297FEA2-CBC8-4454-967C-13FD9745390F}" destId="{A8BC63D0-1485-4D9C-8688-AE94EFE5245E}" srcOrd="1" destOrd="0" presId="urn:microsoft.com/office/officeart/2005/8/layout/hierarchy1"/>
    <dgm:cxn modelId="{1306744F-B53A-4DF0-A6CD-BC67D89FA5F9}" type="presParOf" srcId="{17FF50F3-3216-47BF-846B-178442A91CFF}" destId="{51B0B371-75FA-4AB3-BCBC-AAD853ECD33E}" srcOrd="1" destOrd="0" presId="urn:microsoft.com/office/officeart/2005/8/layout/hierarchy1"/>
    <dgm:cxn modelId="{3FFB2E96-3C00-4830-90B6-77D4ED7D7790}" type="presParOf" srcId="{393FE86B-15FE-4F2A-8E46-B19BDB84E4FE}" destId="{41CF6ECD-0896-4F50-BA2D-24AB8B3A0607}" srcOrd="4" destOrd="0" presId="urn:microsoft.com/office/officeart/2005/8/layout/hierarchy1"/>
    <dgm:cxn modelId="{38B03FE6-8F4E-4061-8EFC-197A652198BC}" type="presParOf" srcId="{393FE86B-15FE-4F2A-8E46-B19BDB84E4FE}" destId="{E78377AB-34CC-4A63-9153-7590F2F0E67E}" srcOrd="5" destOrd="0" presId="urn:microsoft.com/office/officeart/2005/8/layout/hierarchy1"/>
    <dgm:cxn modelId="{C31E8EA6-78D5-4D4C-9A66-27FD30D54CEA}" type="presParOf" srcId="{E78377AB-34CC-4A63-9153-7590F2F0E67E}" destId="{52150CED-6F1C-49EB-AF7A-661E0468C01E}" srcOrd="0" destOrd="0" presId="urn:microsoft.com/office/officeart/2005/8/layout/hierarchy1"/>
    <dgm:cxn modelId="{DE609D9F-841B-4ECC-BD91-734C0194B717}" type="presParOf" srcId="{52150CED-6F1C-49EB-AF7A-661E0468C01E}" destId="{2677FB61-B02C-4624-97F6-454A7E559F36}" srcOrd="0" destOrd="0" presId="urn:microsoft.com/office/officeart/2005/8/layout/hierarchy1"/>
    <dgm:cxn modelId="{FC803479-5C54-4F55-9EFE-27B21D67433E}" type="presParOf" srcId="{52150CED-6F1C-49EB-AF7A-661E0468C01E}" destId="{E1DB61C1-02D0-4136-9525-7323049DF903}" srcOrd="1" destOrd="0" presId="urn:microsoft.com/office/officeart/2005/8/layout/hierarchy1"/>
    <dgm:cxn modelId="{892252B4-C80F-4468-9346-C0B2469C7A70}" type="presParOf" srcId="{E78377AB-34CC-4A63-9153-7590F2F0E67E}" destId="{18A0FE5C-3A64-423E-9016-3282409DCBE5}" srcOrd="1" destOrd="0" presId="urn:microsoft.com/office/officeart/2005/8/layout/hierarchy1"/>
    <dgm:cxn modelId="{504A2027-CD6A-48BF-A253-8F068DF82A05}" type="presParOf" srcId="{42868709-A82D-410A-9F78-16482CE035C3}" destId="{66E9681D-EE9A-4937-AEF1-E4B3269C8ECC}" srcOrd="2" destOrd="0" presId="urn:microsoft.com/office/officeart/2005/8/layout/hierarchy1"/>
    <dgm:cxn modelId="{61F58592-6E54-4868-8ABA-EA8803D71AB7}" type="presParOf" srcId="{42868709-A82D-410A-9F78-16482CE035C3}" destId="{047BDBA0-60BF-478C-B3CB-EA2D6BAA981B}" srcOrd="3" destOrd="0" presId="urn:microsoft.com/office/officeart/2005/8/layout/hierarchy1"/>
    <dgm:cxn modelId="{02245242-FC5F-4525-A961-A508D89399D2}" type="presParOf" srcId="{047BDBA0-60BF-478C-B3CB-EA2D6BAA981B}" destId="{E3FC460B-28C5-48F3-B424-F54D77E3B857}" srcOrd="0" destOrd="0" presId="urn:microsoft.com/office/officeart/2005/8/layout/hierarchy1"/>
    <dgm:cxn modelId="{CBF3C8BB-BE11-44D3-8F16-54E912FB0AD3}" type="presParOf" srcId="{E3FC460B-28C5-48F3-B424-F54D77E3B857}" destId="{AE853D5A-5CBE-4B7B-B5DC-F6BC7A42A605}" srcOrd="0" destOrd="0" presId="urn:microsoft.com/office/officeart/2005/8/layout/hierarchy1"/>
    <dgm:cxn modelId="{2C14FDA6-4DFA-4219-BF47-E594C26D4AB0}" type="presParOf" srcId="{E3FC460B-28C5-48F3-B424-F54D77E3B857}" destId="{45603A53-80CC-4F29-B244-3AF01E360EF2}" srcOrd="1" destOrd="0" presId="urn:microsoft.com/office/officeart/2005/8/layout/hierarchy1"/>
    <dgm:cxn modelId="{C1919FE8-BAAF-4FBE-B58A-D0D3FCDA13B6}" type="presParOf" srcId="{047BDBA0-60BF-478C-B3CB-EA2D6BAA981B}" destId="{06A69617-956B-4572-A6B0-F279D81EE3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35F85B-82AF-4FE5-9960-E283CD83D80C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CCF21D1-0AB7-413D-8D75-85DA36E4F02D}">
      <dgm:prSet phldrT="[Text]" custT="1"/>
      <dgm:spPr>
        <a:solidFill>
          <a:srgbClr val="E95353"/>
        </a:solidFill>
      </dgm:spPr>
      <dgm:t>
        <a:bodyPr/>
        <a:lstStyle/>
        <a:p>
          <a:r>
            <a:rPr lang="ru-RU" sz="1600" b="1" dirty="0" smtClean="0">
              <a:solidFill>
                <a:schemeClr val="bg1"/>
              </a:solidFill>
            </a:rPr>
            <a:t>1 этап </a:t>
          </a:r>
          <a:endParaRPr lang="ru-RU" sz="1600" b="1" dirty="0">
            <a:solidFill>
              <a:schemeClr val="bg1"/>
            </a:solidFill>
          </a:endParaRPr>
        </a:p>
      </dgm:t>
    </dgm:pt>
    <dgm:pt modelId="{302B592B-49C6-4D28-8824-395F79157678}" type="parTrans" cxnId="{6313C35E-786E-4A38-A25B-46199FD21641}">
      <dgm:prSet/>
      <dgm:spPr/>
      <dgm:t>
        <a:bodyPr/>
        <a:lstStyle/>
        <a:p>
          <a:endParaRPr lang="ru-RU"/>
        </a:p>
      </dgm:t>
    </dgm:pt>
    <dgm:pt modelId="{D6C16E54-1E63-4849-AA66-5B31732C2B11}" type="sibTrans" cxnId="{6313C35E-786E-4A38-A25B-46199FD21641}">
      <dgm:prSet/>
      <dgm:spPr/>
      <dgm:t>
        <a:bodyPr/>
        <a:lstStyle/>
        <a:p>
          <a:endParaRPr lang="ru-RU"/>
        </a:p>
      </dgm:t>
    </dgm:pt>
    <dgm:pt modelId="{E58DAA23-913A-44E2-94B8-D107410EA9F6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E95353"/>
          </a:solidFill>
        </a:ln>
      </dgm:spPr>
      <dgm:t>
        <a:bodyPr/>
        <a:lstStyle/>
        <a:p>
          <a:r>
            <a:rPr lang="ru-RU" sz="1600" b="0" i="0" dirty="0" smtClean="0"/>
            <a:t>Менеджер клиента должен убедиться, что предоставлен полный пакет документов согласно Программе идентификации клиента, представителя клиента, выгодоприобретателя, бенефициарного владельца в ПАО РОСБАНК.</a:t>
          </a:r>
          <a:endParaRPr lang="ru-RU" sz="1600" b="0" i="0" dirty="0"/>
        </a:p>
      </dgm:t>
    </dgm:pt>
    <dgm:pt modelId="{4C55821C-F83A-4B20-ACD4-EAD0B444C889}" type="parTrans" cxnId="{46395690-3544-49AF-A9A4-7751223884BD}">
      <dgm:prSet/>
      <dgm:spPr/>
      <dgm:t>
        <a:bodyPr/>
        <a:lstStyle/>
        <a:p>
          <a:endParaRPr lang="ru-RU"/>
        </a:p>
      </dgm:t>
    </dgm:pt>
    <dgm:pt modelId="{CFAF6080-D7CB-49F5-921B-D63E9A57FF83}" type="sibTrans" cxnId="{46395690-3544-49AF-A9A4-7751223884BD}">
      <dgm:prSet/>
      <dgm:spPr/>
      <dgm:t>
        <a:bodyPr/>
        <a:lstStyle/>
        <a:p>
          <a:endParaRPr lang="ru-RU"/>
        </a:p>
      </dgm:t>
    </dgm:pt>
    <dgm:pt modelId="{8EB5C193-F199-4499-9785-BA30B09CC483}">
      <dgm:prSet phldrT="[Text]" custT="1"/>
      <dgm:spPr>
        <a:solidFill>
          <a:srgbClr val="E95353"/>
        </a:solidFill>
      </dgm:spPr>
      <dgm:t>
        <a:bodyPr/>
        <a:lstStyle/>
        <a:p>
          <a:r>
            <a:rPr lang="ru-RU" sz="1600" b="1" dirty="0" smtClean="0">
              <a:solidFill>
                <a:schemeClr val="bg1"/>
              </a:solidFill>
            </a:rPr>
            <a:t>2 этап </a:t>
          </a:r>
          <a:endParaRPr lang="ru-RU" sz="1600" dirty="0">
            <a:solidFill>
              <a:schemeClr val="bg1"/>
            </a:solidFill>
          </a:endParaRPr>
        </a:p>
      </dgm:t>
    </dgm:pt>
    <dgm:pt modelId="{17D18599-172F-4BEE-9001-D547E73C653F}" type="parTrans" cxnId="{36E75DD6-8334-4257-B16E-93C795DC0F69}">
      <dgm:prSet/>
      <dgm:spPr/>
      <dgm:t>
        <a:bodyPr/>
        <a:lstStyle/>
        <a:p>
          <a:endParaRPr lang="ru-RU"/>
        </a:p>
      </dgm:t>
    </dgm:pt>
    <dgm:pt modelId="{AEAB8796-607D-43BF-92DD-D99B259358D3}" type="sibTrans" cxnId="{36E75DD6-8334-4257-B16E-93C795DC0F69}">
      <dgm:prSet/>
      <dgm:spPr/>
      <dgm:t>
        <a:bodyPr/>
        <a:lstStyle/>
        <a:p>
          <a:endParaRPr lang="ru-RU"/>
        </a:p>
      </dgm:t>
    </dgm:pt>
    <dgm:pt modelId="{4294924A-FB09-4E44-8138-BACA0E09B522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E95353"/>
          </a:solidFill>
        </a:ln>
      </dgm:spPr>
      <dgm:t>
        <a:bodyPr/>
        <a:lstStyle/>
        <a:p>
          <a:r>
            <a:rPr lang="ru-RU" sz="1600" b="0" i="0" dirty="0" smtClean="0"/>
            <a:t>Менеджер клиента проводит процедуру ЗСК в </a:t>
          </a:r>
          <a:r>
            <a:rPr lang="en-US" sz="1600" b="0" i="0" dirty="0" smtClean="0"/>
            <a:t>NRT</a:t>
          </a:r>
          <a:r>
            <a:rPr lang="ru-RU" sz="1600" b="0" i="0" dirty="0" smtClean="0"/>
            <a:t>. </a:t>
          </a:r>
          <a:endParaRPr lang="ru-RU" sz="1600" b="0" i="0" dirty="0"/>
        </a:p>
      </dgm:t>
    </dgm:pt>
    <dgm:pt modelId="{03951C81-F02B-4289-8D97-013D6A11A4F4}" type="parTrans" cxnId="{E0CE857E-EDD0-4D6E-A30A-69F5456512D3}">
      <dgm:prSet/>
      <dgm:spPr/>
      <dgm:t>
        <a:bodyPr/>
        <a:lstStyle/>
        <a:p>
          <a:endParaRPr lang="ru-RU"/>
        </a:p>
      </dgm:t>
    </dgm:pt>
    <dgm:pt modelId="{26A655B2-8422-4ED5-A257-A8C5A7254FC4}" type="sibTrans" cxnId="{E0CE857E-EDD0-4D6E-A30A-69F5456512D3}">
      <dgm:prSet/>
      <dgm:spPr/>
      <dgm:t>
        <a:bodyPr/>
        <a:lstStyle/>
        <a:p>
          <a:endParaRPr lang="ru-RU"/>
        </a:p>
      </dgm:t>
    </dgm:pt>
    <dgm:pt modelId="{63629D88-3E93-4DA9-9234-F2003E9EE7E3}">
      <dgm:prSet phldrT="[Text]" custT="1"/>
      <dgm:spPr>
        <a:solidFill>
          <a:srgbClr val="E95353"/>
        </a:solidFill>
      </dgm:spPr>
      <dgm:t>
        <a:bodyPr/>
        <a:lstStyle/>
        <a:p>
          <a:r>
            <a:rPr lang="ru-RU" sz="1600" b="1" dirty="0" smtClean="0">
              <a:solidFill>
                <a:schemeClr val="bg1"/>
              </a:solidFill>
            </a:rPr>
            <a:t>3 этап</a:t>
          </a:r>
          <a:endParaRPr lang="ru-RU" sz="1600" b="1" dirty="0">
            <a:solidFill>
              <a:schemeClr val="bg1"/>
            </a:solidFill>
          </a:endParaRPr>
        </a:p>
      </dgm:t>
    </dgm:pt>
    <dgm:pt modelId="{14235882-157A-4124-AF84-0B3E2110493F}" type="parTrans" cxnId="{854B23D5-5939-4BA8-9370-768BF9BE647F}">
      <dgm:prSet/>
      <dgm:spPr/>
      <dgm:t>
        <a:bodyPr/>
        <a:lstStyle/>
        <a:p>
          <a:endParaRPr lang="ru-RU"/>
        </a:p>
      </dgm:t>
    </dgm:pt>
    <dgm:pt modelId="{571F1422-5117-4308-A076-8AE0DE640A07}" type="sibTrans" cxnId="{854B23D5-5939-4BA8-9370-768BF9BE647F}">
      <dgm:prSet/>
      <dgm:spPr/>
      <dgm:t>
        <a:bodyPr/>
        <a:lstStyle/>
        <a:p>
          <a:endParaRPr lang="ru-RU"/>
        </a:p>
      </dgm:t>
    </dgm:pt>
    <dgm:pt modelId="{8F218C60-079D-4FC9-952B-F34BEB6E6607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E95353"/>
          </a:solidFill>
        </a:ln>
      </dgm:spPr>
      <dgm:t>
        <a:bodyPr/>
        <a:lstStyle/>
        <a:p>
          <a:r>
            <a:rPr lang="ru-RU" sz="1600" b="0" i="0" dirty="0" smtClean="0"/>
            <a:t>Менеджер проходит процедуру согласования ЗСК.</a:t>
          </a:r>
          <a:endParaRPr lang="ru-RU" sz="1600" b="0" i="0" dirty="0"/>
        </a:p>
      </dgm:t>
    </dgm:pt>
    <dgm:pt modelId="{1E9E9319-55D8-4D14-BC83-861463B64C97}" type="parTrans" cxnId="{94E2C700-E872-424E-9EDA-8542508C8E44}">
      <dgm:prSet/>
      <dgm:spPr/>
      <dgm:t>
        <a:bodyPr/>
        <a:lstStyle/>
        <a:p>
          <a:endParaRPr lang="ru-RU"/>
        </a:p>
      </dgm:t>
    </dgm:pt>
    <dgm:pt modelId="{7CF2B290-FB74-4DC7-B68F-608B955C31B6}" type="sibTrans" cxnId="{94E2C700-E872-424E-9EDA-8542508C8E44}">
      <dgm:prSet/>
      <dgm:spPr/>
      <dgm:t>
        <a:bodyPr/>
        <a:lstStyle/>
        <a:p>
          <a:endParaRPr lang="ru-RU"/>
        </a:p>
      </dgm:t>
    </dgm:pt>
    <dgm:pt modelId="{DD4C5D43-89B5-4601-A3A2-8E0A12C91938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E95353"/>
          </a:solidFill>
        </a:ln>
      </dgm:spPr>
      <dgm:t>
        <a:bodyPr/>
        <a:lstStyle/>
        <a:p>
          <a:r>
            <a:rPr lang="ru-RU" sz="1600" b="0" i="0" dirty="0" smtClean="0"/>
            <a:t>Правила проведения отражены в обучающем курсе - Курс 04_NRT Создание клиента. Процедура ЗСК_Ремедиация данных_обновление. </a:t>
          </a:r>
          <a:endParaRPr lang="ru-RU" sz="1600" b="0" i="0" dirty="0"/>
        </a:p>
      </dgm:t>
    </dgm:pt>
    <dgm:pt modelId="{EB783095-18AA-4641-9CF7-4C7E8D57D872}" type="parTrans" cxnId="{57C0AD17-F525-4FCB-A070-BF9DBB743748}">
      <dgm:prSet/>
      <dgm:spPr/>
      <dgm:t>
        <a:bodyPr/>
        <a:lstStyle/>
        <a:p>
          <a:endParaRPr lang="ru-RU"/>
        </a:p>
      </dgm:t>
    </dgm:pt>
    <dgm:pt modelId="{07F37E9E-61ED-4A54-9644-8C91F73F463F}" type="sibTrans" cxnId="{57C0AD17-F525-4FCB-A070-BF9DBB743748}">
      <dgm:prSet/>
      <dgm:spPr/>
      <dgm:t>
        <a:bodyPr/>
        <a:lstStyle/>
        <a:p>
          <a:endParaRPr lang="ru-RU"/>
        </a:p>
      </dgm:t>
    </dgm:pt>
    <dgm:pt modelId="{B35275CE-DC7E-4E87-85CA-FC7B26754642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E95353"/>
          </a:solidFill>
        </a:ln>
      </dgm:spPr>
      <dgm:t>
        <a:bodyPr/>
        <a:lstStyle/>
        <a:p>
          <a:r>
            <a:rPr lang="ru-RU" sz="1600" b="1" i="0" dirty="0" smtClean="0">
              <a:solidFill>
                <a:srgbClr val="E95353"/>
              </a:solidFill>
            </a:rPr>
            <a:t>Установление деловых отношений до завершения процедуры согласования ЗСК запрещается. </a:t>
          </a:r>
          <a:endParaRPr lang="ru-RU" sz="1600" b="1" i="0" dirty="0">
            <a:solidFill>
              <a:srgbClr val="E95353"/>
            </a:solidFill>
          </a:endParaRPr>
        </a:p>
      </dgm:t>
    </dgm:pt>
    <dgm:pt modelId="{DC9A42C2-FD11-494D-BE8A-C121BED2A04C}" type="parTrans" cxnId="{80737CBF-1EA8-40A2-953F-4414725FCB73}">
      <dgm:prSet/>
      <dgm:spPr/>
      <dgm:t>
        <a:bodyPr/>
        <a:lstStyle/>
        <a:p>
          <a:endParaRPr lang="ru-RU"/>
        </a:p>
      </dgm:t>
    </dgm:pt>
    <dgm:pt modelId="{90D5333E-3EBC-4305-9C04-25CDD9228CA8}" type="sibTrans" cxnId="{80737CBF-1EA8-40A2-953F-4414725FCB73}">
      <dgm:prSet/>
      <dgm:spPr/>
      <dgm:t>
        <a:bodyPr/>
        <a:lstStyle/>
        <a:p>
          <a:endParaRPr lang="ru-RU"/>
        </a:p>
      </dgm:t>
    </dgm:pt>
    <dgm:pt modelId="{84686AA7-AED9-4F66-B819-16A0C6AFC12C}" type="pres">
      <dgm:prSet presAssocID="{5D35F85B-82AF-4FE5-9960-E283CD83D80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64C27FF-FB99-457C-8922-7CE1070A982E}" type="pres">
      <dgm:prSet presAssocID="{9CCF21D1-0AB7-413D-8D75-85DA36E4F02D}" presName="composite" presStyleCnt="0"/>
      <dgm:spPr/>
    </dgm:pt>
    <dgm:pt modelId="{8CA3E297-43A2-4E31-A0B4-47E651ACE1A1}" type="pres">
      <dgm:prSet presAssocID="{9CCF21D1-0AB7-413D-8D75-85DA36E4F02D}" presName="parentText" presStyleLbl="alignNode1" presStyleIdx="0" presStyleCnt="3" custLinFactNeighborX="0" custLinFactNeighborY="-7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F07808-DAFC-4903-89D9-DB796C1FD2C0}" type="pres">
      <dgm:prSet presAssocID="{9CCF21D1-0AB7-413D-8D75-85DA36E4F02D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53B78B-CFA8-4459-A9FE-FADC64E6FDC0}" type="pres">
      <dgm:prSet presAssocID="{D6C16E54-1E63-4849-AA66-5B31732C2B11}" presName="sp" presStyleCnt="0"/>
      <dgm:spPr/>
    </dgm:pt>
    <dgm:pt modelId="{62798691-F65F-4960-85A4-16448317ED0A}" type="pres">
      <dgm:prSet presAssocID="{8EB5C193-F199-4499-9785-BA30B09CC483}" presName="composite" presStyleCnt="0"/>
      <dgm:spPr/>
    </dgm:pt>
    <dgm:pt modelId="{352FBEBF-6BC4-49BB-917E-ED95D57F548A}" type="pres">
      <dgm:prSet presAssocID="{8EB5C193-F199-4499-9785-BA30B09CC483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C69DC4-081E-42F6-94B9-40A8F5D4FF94}" type="pres">
      <dgm:prSet presAssocID="{8EB5C193-F199-4499-9785-BA30B09CC483}" presName="descendantText" presStyleLbl="alignAcc1" presStyleIdx="1" presStyleCnt="3" custLinFactNeighborX="102" custLinFactNeighborY="-21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1C6A75-F2A1-4DDF-8849-15B5B481FB27}" type="pres">
      <dgm:prSet presAssocID="{AEAB8796-607D-43BF-92DD-D99B259358D3}" presName="sp" presStyleCnt="0"/>
      <dgm:spPr/>
    </dgm:pt>
    <dgm:pt modelId="{A7ECDD64-7483-4F6B-A0E9-723B523764B5}" type="pres">
      <dgm:prSet presAssocID="{63629D88-3E93-4DA9-9234-F2003E9EE7E3}" presName="composite" presStyleCnt="0"/>
      <dgm:spPr/>
    </dgm:pt>
    <dgm:pt modelId="{38DCA4F1-AB0D-49A7-86F4-182F970D5FD1}" type="pres">
      <dgm:prSet presAssocID="{63629D88-3E93-4DA9-9234-F2003E9EE7E3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889F29-55F7-400B-B01B-796EB749DA7F}" type="pres">
      <dgm:prSet presAssocID="{63629D88-3E93-4DA9-9234-F2003E9EE7E3}" presName="descendantText" presStyleLbl="alignAcc1" presStyleIdx="2" presStyleCnt="3" custScaleY="104625" custLinFactNeighborY="33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2706313-C97E-4A2D-BA32-FC4168DA18AB}" type="presOf" srcId="{4294924A-FB09-4E44-8138-BACA0E09B522}" destId="{70C69DC4-081E-42F6-94B9-40A8F5D4FF94}" srcOrd="0" destOrd="0" presId="urn:microsoft.com/office/officeart/2005/8/layout/chevron2"/>
    <dgm:cxn modelId="{36E75DD6-8334-4257-B16E-93C795DC0F69}" srcId="{5D35F85B-82AF-4FE5-9960-E283CD83D80C}" destId="{8EB5C193-F199-4499-9785-BA30B09CC483}" srcOrd="1" destOrd="0" parTransId="{17D18599-172F-4BEE-9001-D547E73C653F}" sibTransId="{AEAB8796-607D-43BF-92DD-D99B259358D3}"/>
    <dgm:cxn modelId="{66FF5BF0-18DE-459D-AC65-A4561656266C}" type="presOf" srcId="{E58DAA23-913A-44E2-94B8-D107410EA9F6}" destId="{E8F07808-DAFC-4903-89D9-DB796C1FD2C0}" srcOrd="0" destOrd="0" presId="urn:microsoft.com/office/officeart/2005/8/layout/chevron2"/>
    <dgm:cxn modelId="{57C0AD17-F525-4FCB-A070-BF9DBB743748}" srcId="{8EB5C193-F199-4499-9785-BA30B09CC483}" destId="{DD4C5D43-89B5-4601-A3A2-8E0A12C91938}" srcOrd="1" destOrd="0" parTransId="{EB783095-18AA-4641-9CF7-4C7E8D57D872}" sibTransId="{07F37E9E-61ED-4A54-9644-8C91F73F463F}"/>
    <dgm:cxn modelId="{6218D3AC-7205-4245-AC7F-A4E85DC77893}" type="presOf" srcId="{B35275CE-DC7E-4E87-85CA-FC7B26754642}" destId="{18889F29-55F7-400B-B01B-796EB749DA7F}" srcOrd="0" destOrd="1" presId="urn:microsoft.com/office/officeart/2005/8/layout/chevron2"/>
    <dgm:cxn modelId="{E0CE857E-EDD0-4D6E-A30A-69F5456512D3}" srcId="{8EB5C193-F199-4499-9785-BA30B09CC483}" destId="{4294924A-FB09-4E44-8138-BACA0E09B522}" srcOrd="0" destOrd="0" parTransId="{03951C81-F02B-4289-8D97-013D6A11A4F4}" sibTransId="{26A655B2-8422-4ED5-A257-A8C5A7254FC4}"/>
    <dgm:cxn modelId="{94E2C700-E872-424E-9EDA-8542508C8E44}" srcId="{63629D88-3E93-4DA9-9234-F2003E9EE7E3}" destId="{8F218C60-079D-4FC9-952B-F34BEB6E6607}" srcOrd="0" destOrd="0" parTransId="{1E9E9319-55D8-4D14-BC83-861463B64C97}" sibTransId="{7CF2B290-FB74-4DC7-B68F-608B955C31B6}"/>
    <dgm:cxn modelId="{F29E7328-66A9-4562-B7B8-898017129306}" type="presOf" srcId="{DD4C5D43-89B5-4601-A3A2-8E0A12C91938}" destId="{70C69DC4-081E-42F6-94B9-40A8F5D4FF94}" srcOrd="0" destOrd="1" presId="urn:microsoft.com/office/officeart/2005/8/layout/chevron2"/>
    <dgm:cxn modelId="{6364680C-05F9-4989-9F07-C22575A823C3}" type="presOf" srcId="{63629D88-3E93-4DA9-9234-F2003E9EE7E3}" destId="{38DCA4F1-AB0D-49A7-86F4-182F970D5FD1}" srcOrd="0" destOrd="0" presId="urn:microsoft.com/office/officeart/2005/8/layout/chevron2"/>
    <dgm:cxn modelId="{6313C35E-786E-4A38-A25B-46199FD21641}" srcId="{5D35F85B-82AF-4FE5-9960-E283CD83D80C}" destId="{9CCF21D1-0AB7-413D-8D75-85DA36E4F02D}" srcOrd="0" destOrd="0" parTransId="{302B592B-49C6-4D28-8824-395F79157678}" sibTransId="{D6C16E54-1E63-4849-AA66-5B31732C2B11}"/>
    <dgm:cxn modelId="{99BAC21E-B0ED-4A49-A0A1-32852CFF44D6}" type="presOf" srcId="{9CCF21D1-0AB7-413D-8D75-85DA36E4F02D}" destId="{8CA3E297-43A2-4E31-A0B4-47E651ACE1A1}" srcOrd="0" destOrd="0" presId="urn:microsoft.com/office/officeart/2005/8/layout/chevron2"/>
    <dgm:cxn modelId="{80737CBF-1EA8-40A2-953F-4414725FCB73}" srcId="{63629D88-3E93-4DA9-9234-F2003E9EE7E3}" destId="{B35275CE-DC7E-4E87-85CA-FC7B26754642}" srcOrd="1" destOrd="0" parTransId="{DC9A42C2-FD11-494D-BE8A-C121BED2A04C}" sibTransId="{90D5333E-3EBC-4305-9C04-25CDD9228CA8}"/>
    <dgm:cxn modelId="{854B23D5-5939-4BA8-9370-768BF9BE647F}" srcId="{5D35F85B-82AF-4FE5-9960-E283CD83D80C}" destId="{63629D88-3E93-4DA9-9234-F2003E9EE7E3}" srcOrd="2" destOrd="0" parTransId="{14235882-157A-4124-AF84-0B3E2110493F}" sibTransId="{571F1422-5117-4308-A076-8AE0DE640A07}"/>
    <dgm:cxn modelId="{46395690-3544-49AF-A9A4-7751223884BD}" srcId="{9CCF21D1-0AB7-413D-8D75-85DA36E4F02D}" destId="{E58DAA23-913A-44E2-94B8-D107410EA9F6}" srcOrd="0" destOrd="0" parTransId="{4C55821C-F83A-4B20-ACD4-EAD0B444C889}" sibTransId="{CFAF6080-D7CB-49F5-921B-D63E9A57FF83}"/>
    <dgm:cxn modelId="{B2233EE9-F84D-4FEC-A58C-3E1F65DCD79F}" type="presOf" srcId="{5D35F85B-82AF-4FE5-9960-E283CD83D80C}" destId="{84686AA7-AED9-4F66-B819-16A0C6AFC12C}" srcOrd="0" destOrd="0" presId="urn:microsoft.com/office/officeart/2005/8/layout/chevron2"/>
    <dgm:cxn modelId="{C4B10B68-8DE8-4105-9A57-8C79A739EDC5}" type="presOf" srcId="{8EB5C193-F199-4499-9785-BA30B09CC483}" destId="{352FBEBF-6BC4-49BB-917E-ED95D57F548A}" srcOrd="0" destOrd="0" presId="urn:microsoft.com/office/officeart/2005/8/layout/chevron2"/>
    <dgm:cxn modelId="{119A1016-7944-44C7-83B5-882D998358FA}" type="presOf" srcId="{8F218C60-079D-4FC9-952B-F34BEB6E6607}" destId="{18889F29-55F7-400B-B01B-796EB749DA7F}" srcOrd="0" destOrd="0" presId="urn:microsoft.com/office/officeart/2005/8/layout/chevron2"/>
    <dgm:cxn modelId="{2711528B-0BB5-451C-8D8E-765743F23488}" type="presParOf" srcId="{84686AA7-AED9-4F66-B819-16A0C6AFC12C}" destId="{964C27FF-FB99-457C-8922-7CE1070A982E}" srcOrd="0" destOrd="0" presId="urn:microsoft.com/office/officeart/2005/8/layout/chevron2"/>
    <dgm:cxn modelId="{517544F2-421D-49AF-A47A-9CCB11775D76}" type="presParOf" srcId="{964C27FF-FB99-457C-8922-7CE1070A982E}" destId="{8CA3E297-43A2-4E31-A0B4-47E651ACE1A1}" srcOrd="0" destOrd="0" presId="urn:microsoft.com/office/officeart/2005/8/layout/chevron2"/>
    <dgm:cxn modelId="{E5415B19-F03E-401D-BE58-157DA51FC114}" type="presParOf" srcId="{964C27FF-FB99-457C-8922-7CE1070A982E}" destId="{E8F07808-DAFC-4903-89D9-DB796C1FD2C0}" srcOrd="1" destOrd="0" presId="urn:microsoft.com/office/officeart/2005/8/layout/chevron2"/>
    <dgm:cxn modelId="{C48B3F2A-EA42-447D-BB8A-97D6FAB577A4}" type="presParOf" srcId="{84686AA7-AED9-4F66-B819-16A0C6AFC12C}" destId="{7053B78B-CFA8-4459-A9FE-FADC64E6FDC0}" srcOrd="1" destOrd="0" presId="urn:microsoft.com/office/officeart/2005/8/layout/chevron2"/>
    <dgm:cxn modelId="{918303F6-7AFA-456A-AF1B-BC20AD067AA2}" type="presParOf" srcId="{84686AA7-AED9-4F66-B819-16A0C6AFC12C}" destId="{62798691-F65F-4960-85A4-16448317ED0A}" srcOrd="2" destOrd="0" presId="urn:microsoft.com/office/officeart/2005/8/layout/chevron2"/>
    <dgm:cxn modelId="{88262A1A-4156-4325-91E7-0498F6C79FA5}" type="presParOf" srcId="{62798691-F65F-4960-85A4-16448317ED0A}" destId="{352FBEBF-6BC4-49BB-917E-ED95D57F548A}" srcOrd="0" destOrd="0" presId="urn:microsoft.com/office/officeart/2005/8/layout/chevron2"/>
    <dgm:cxn modelId="{C8B409A0-3C31-464F-BF9A-7AD0B2043C0D}" type="presParOf" srcId="{62798691-F65F-4960-85A4-16448317ED0A}" destId="{70C69DC4-081E-42F6-94B9-40A8F5D4FF94}" srcOrd="1" destOrd="0" presId="urn:microsoft.com/office/officeart/2005/8/layout/chevron2"/>
    <dgm:cxn modelId="{DFC148F7-D3E2-4392-A36B-5BB16163AF13}" type="presParOf" srcId="{84686AA7-AED9-4F66-B819-16A0C6AFC12C}" destId="{F31C6A75-F2A1-4DDF-8849-15B5B481FB27}" srcOrd="3" destOrd="0" presId="urn:microsoft.com/office/officeart/2005/8/layout/chevron2"/>
    <dgm:cxn modelId="{07E10724-DD48-4FCF-A595-3E863F8F1F0F}" type="presParOf" srcId="{84686AA7-AED9-4F66-B819-16A0C6AFC12C}" destId="{A7ECDD64-7483-4F6B-A0E9-723B523764B5}" srcOrd="4" destOrd="0" presId="urn:microsoft.com/office/officeart/2005/8/layout/chevron2"/>
    <dgm:cxn modelId="{3D9671A7-80C7-4C3B-8F5E-CBEFD9FEED37}" type="presParOf" srcId="{A7ECDD64-7483-4F6B-A0E9-723B523764B5}" destId="{38DCA4F1-AB0D-49A7-86F4-182F970D5FD1}" srcOrd="0" destOrd="0" presId="urn:microsoft.com/office/officeart/2005/8/layout/chevron2"/>
    <dgm:cxn modelId="{BA729EB1-9A21-4013-97A5-FF52B73E69A8}" type="presParOf" srcId="{A7ECDD64-7483-4F6B-A0E9-723B523764B5}" destId="{18889F29-55F7-400B-B01B-796EB749DA7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9B894E-C3C1-49A1-8EA5-3190C00C9D88}" type="doc">
      <dgm:prSet loTypeId="urn:microsoft.com/office/officeart/2005/8/layout/hProcess9" loCatId="process" qsTypeId="urn:microsoft.com/office/officeart/2005/8/quickstyle/simple3" qsCatId="simple" csTypeId="urn:microsoft.com/office/officeart/2005/8/colors/accent1_2" csCatId="accent1" phldr="1"/>
      <dgm:spPr/>
    </dgm:pt>
    <dgm:pt modelId="{D7F9A055-2E53-45B3-9632-EAAE752086F1}">
      <dgm:prSet phldrT="[Text]" custT="1"/>
      <dgm:spPr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gm:spPr>
      <dgm:t>
        <a:bodyPr/>
        <a:lstStyle/>
        <a:p>
          <a:r>
            <a:rPr lang="ru-RU" sz="1600" b="0" dirty="0" smtClean="0">
              <a:solidFill>
                <a:schemeClr val="bg1"/>
              </a:solidFill>
            </a:rPr>
            <a:t>Согласование руководителя офиса</a:t>
          </a:r>
          <a:r>
            <a:rPr lang="en-US" sz="1600" b="0" dirty="0" smtClean="0">
              <a:solidFill>
                <a:schemeClr val="bg1"/>
              </a:solidFill>
            </a:rPr>
            <a:t>*</a:t>
          </a:r>
          <a:endParaRPr lang="ru-RU" sz="1600" b="0" dirty="0" smtClean="0">
            <a:solidFill>
              <a:schemeClr val="bg1"/>
            </a:solidFill>
          </a:endParaRPr>
        </a:p>
      </dgm:t>
    </dgm:pt>
    <dgm:pt modelId="{05111BEB-2B0D-454D-A49B-327D7C1710B7}" type="parTrans" cxnId="{4292522D-09DF-4B19-94E5-2B35B0CE6C2C}">
      <dgm:prSet/>
      <dgm:spPr/>
      <dgm:t>
        <a:bodyPr/>
        <a:lstStyle/>
        <a:p>
          <a:endParaRPr lang="ru-RU"/>
        </a:p>
      </dgm:t>
    </dgm:pt>
    <dgm:pt modelId="{03F1DFC4-427C-4DED-A5AC-A7B368C32E20}" type="sibTrans" cxnId="{4292522D-09DF-4B19-94E5-2B35B0CE6C2C}">
      <dgm:prSet/>
      <dgm:spPr/>
      <dgm:t>
        <a:bodyPr/>
        <a:lstStyle/>
        <a:p>
          <a:endParaRPr lang="ru-RU"/>
        </a:p>
      </dgm:t>
    </dgm:pt>
    <dgm:pt modelId="{5A8ECBBE-DB2F-4D71-8BBB-B01F18BD829A}">
      <dgm:prSet phldrT="[Text]" custT="1"/>
      <dgm:spPr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gm:spPr>
      <dgm:t>
        <a:bodyPr/>
        <a:lstStyle/>
        <a:p>
          <a:r>
            <a:rPr lang="ru-RU" sz="1600" b="0" dirty="0" smtClean="0">
              <a:solidFill>
                <a:schemeClr val="bg1"/>
              </a:solidFill>
            </a:rPr>
            <a:t>Согласование ДФМ</a:t>
          </a:r>
          <a:r>
            <a:rPr lang="en-US" sz="1600" b="0" dirty="0" smtClean="0">
              <a:solidFill>
                <a:schemeClr val="bg1"/>
              </a:solidFill>
            </a:rPr>
            <a:t>*</a:t>
          </a:r>
          <a:endParaRPr lang="ru-RU" sz="1600" b="0" dirty="0">
            <a:solidFill>
              <a:schemeClr val="bg1"/>
            </a:solidFill>
          </a:endParaRPr>
        </a:p>
      </dgm:t>
    </dgm:pt>
    <dgm:pt modelId="{F53D7DC3-FBB0-4D93-9452-3FB41DC79850}" type="parTrans" cxnId="{70CE520B-74AA-47FF-9CEC-29D872601A28}">
      <dgm:prSet/>
      <dgm:spPr/>
      <dgm:t>
        <a:bodyPr/>
        <a:lstStyle/>
        <a:p>
          <a:endParaRPr lang="ru-RU"/>
        </a:p>
      </dgm:t>
    </dgm:pt>
    <dgm:pt modelId="{9AFC43F8-F9AA-45F1-9045-BAB5F29E001C}" type="sibTrans" cxnId="{70CE520B-74AA-47FF-9CEC-29D872601A28}">
      <dgm:prSet/>
      <dgm:spPr/>
      <dgm:t>
        <a:bodyPr/>
        <a:lstStyle/>
        <a:p>
          <a:endParaRPr lang="ru-RU"/>
        </a:p>
      </dgm:t>
    </dgm:pt>
    <dgm:pt modelId="{005E48BA-E732-45CC-9433-153BC146F727}">
      <dgm:prSet phldrT="[Text]" custT="1"/>
      <dgm:spPr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gm:spPr>
      <dgm:t>
        <a:bodyPr/>
        <a:lstStyle/>
        <a:p>
          <a:r>
            <a:rPr lang="ru-RU" sz="1600" b="0" dirty="0" smtClean="0">
              <a:solidFill>
                <a:schemeClr val="bg1"/>
              </a:solidFill>
            </a:rPr>
            <a:t>Согласование руководителя банка / его заместителя**</a:t>
          </a:r>
          <a:endParaRPr lang="ru-RU" sz="1600" b="0" dirty="0">
            <a:solidFill>
              <a:schemeClr val="bg1"/>
            </a:solidFill>
          </a:endParaRPr>
        </a:p>
      </dgm:t>
    </dgm:pt>
    <dgm:pt modelId="{EA34E14F-D03F-45F0-994C-E24BAFA3266C}" type="parTrans" cxnId="{8E95534D-2591-4D1F-B820-E38A411488A0}">
      <dgm:prSet/>
      <dgm:spPr/>
      <dgm:t>
        <a:bodyPr/>
        <a:lstStyle/>
        <a:p>
          <a:endParaRPr lang="ru-RU"/>
        </a:p>
      </dgm:t>
    </dgm:pt>
    <dgm:pt modelId="{4A0CAFE0-DC3F-48A3-B11B-B2D368243809}" type="sibTrans" cxnId="{8E95534D-2591-4D1F-B820-E38A411488A0}">
      <dgm:prSet/>
      <dgm:spPr/>
      <dgm:t>
        <a:bodyPr/>
        <a:lstStyle/>
        <a:p>
          <a:endParaRPr lang="ru-RU"/>
        </a:p>
      </dgm:t>
    </dgm:pt>
    <dgm:pt modelId="{1DFBA018-15C4-40B6-A722-9312DAC6EA37}">
      <dgm:prSet phldrT="[Text]" custT="1"/>
      <dgm:spPr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gm:spPr>
      <dgm:t>
        <a:bodyPr/>
        <a:lstStyle/>
        <a:p>
          <a:r>
            <a:rPr lang="ru-RU" sz="1600" b="0" dirty="0" smtClean="0">
              <a:solidFill>
                <a:schemeClr val="bg1"/>
              </a:solidFill>
            </a:rPr>
            <a:t>Установление деловых отношений с клиентом категории РЕР</a:t>
          </a:r>
          <a:endParaRPr lang="ru-RU" sz="1600" b="0" dirty="0">
            <a:solidFill>
              <a:schemeClr val="bg1"/>
            </a:solidFill>
          </a:endParaRPr>
        </a:p>
      </dgm:t>
    </dgm:pt>
    <dgm:pt modelId="{355E39F0-3060-4802-B963-622C17A6049B}" type="parTrans" cxnId="{56F83547-76A1-4A50-8356-6771AA54628D}">
      <dgm:prSet/>
      <dgm:spPr/>
      <dgm:t>
        <a:bodyPr/>
        <a:lstStyle/>
        <a:p>
          <a:endParaRPr lang="ru-RU"/>
        </a:p>
      </dgm:t>
    </dgm:pt>
    <dgm:pt modelId="{1EC2547C-9556-4DB1-9AD3-10B326AD9A80}" type="sibTrans" cxnId="{56F83547-76A1-4A50-8356-6771AA54628D}">
      <dgm:prSet/>
      <dgm:spPr/>
      <dgm:t>
        <a:bodyPr/>
        <a:lstStyle/>
        <a:p>
          <a:endParaRPr lang="ru-RU"/>
        </a:p>
      </dgm:t>
    </dgm:pt>
    <dgm:pt modelId="{78C68929-EBD7-4BCC-A759-2FD3E99CC2F4}" type="pres">
      <dgm:prSet presAssocID="{369B894E-C3C1-49A1-8EA5-3190C00C9D88}" presName="CompostProcess" presStyleCnt="0">
        <dgm:presLayoutVars>
          <dgm:dir/>
          <dgm:resizeHandles val="exact"/>
        </dgm:presLayoutVars>
      </dgm:prSet>
      <dgm:spPr/>
    </dgm:pt>
    <dgm:pt modelId="{2D381B58-6553-4A52-B5E9-5A5E1A229470}" type="pres">
      <dgm:prSet presAssocID="{369B894E-C3C1-49A1-8EA5-3190C00C9D88}" presName="arrow" presStyleLbl="bgShp" presStyleIdx="0" presStyleCn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</dgm:pt>
    <dgm:pt modelId="{798D1676-17AE-4CBF-AC9D-2E53D9D7E488}" type="pres">
      <dgm:prSet presAssocID="{369B894E-C3C1-49A1-8EA5-3190C00C9D88}" presName="linearProcess" presStyleCnt="0"/>
      <dgm:spPr/>
    </dgm:pt>
    <dgm:pt modelId="{384A9EAD-CC33-45DE-8B3F-053292CE9744}" type="pres">
      <dgm:prSet presAssocID="{D7F9A055-2E53-45B3-9632-EAAE752086F1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AD290F-F532-4C8E-9E57-4BD22BCEC0F4}" type="pres">
      <dgm:prSet presAssocID="{03F1DFC4-427C-4DED-A5AC-A7B368C32E20}" presName="sibTrans" presStyleCnt="0"/>
      <dgm:spPr/>
    </dgm:pt>
    <dgm:pt modelId="{59F41E2D-DFFF-407D-9917-7F78574AE864}" type="pres">
      <dgm:prSet presAssocID="{5A8ECBBE-DB2F-4D71-8BBB-B01F18BD829A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45C8FA-909B-4BBA-B22D-1007A7DB298F}" type="pres">
      <dgm:prSet presAssocID="{9AFC43F8-F9AA-45F1-9045-BAB5F29E001C}" presName="sibTrans" presStyleCnt="0"/>
      <dgm:spPr/>
    </dgm:pt>
    <dgm:pt modelId="{C5E79E37-4738-40A9-AF38-F5E914F87150}" type="pres">
      <dgm:prSet presAssocID="{005E48BA-E732-45CC-9433-153BC146F727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3CA26C-77C4-408D-A2B1-C8704F459797}" type="pres">
      <dgm:prSet presAssocID="{4A0CAFE0-DC3F-48A3-B11B-B2D368243809}" presName="sibTrans" presStyleCnt="0"/>
      <dgm:spPr/>
    </dgm:pt>
    <dgm:pt modelId="{807D2436-7D1C-42A3-AC10-0D7A27D93351}" type="pres">
      <dgm:prSet presAssocID="{1DFBA018-15C4-40B6-A722-9312DAC6EA37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6F83547-76A1-4A50-8356-6771AA54628D}" srcId="{369B894E-C3C1-49A1-8EA5-3190C00C9D88}" destId="{1DFBA018-15C4-40B6-A722-9312DAC6EA37}" srcOrd="3" destOrd="0" parTransId="{355E39F0-3060-4802-B963-622C17A6049B}" sibTransId="{1EC2547C-9556-4DB1-9AD3-10B326AD9A80}"/>
    <dgm:cxn modelId="{8E95534D-2591-4D1F-B820-E38A411488A0}" srcId="{369B894E-C3C1-49A1-8EA5-3190C00C9D88}" destId="{005E48BA-E732-45CC-9433-153BC146F727}" srcOrd="2" destOrd="0" parTransId="{EA34E14F-D03F-45F0-994C-E24BAFA3266C}" sibTransId="{4A0CAFE0-DC3F-48A3-B11B-B2D368243809}"/>
    <dgm:cxn modelId="{407449D2-E797-4A6D-8983-465F27D85631}" type="presOf" srcId="{D7F9A055-2E53-45B3-9632-EAAE752086F1}" destId="{384A9EAD-CC33-45DE-8B3F-053292CE9744}" srcOrd="0" destOrd="0" presId="urn:microsoft.com/office/officeart/2005/8/layout/hProcess9"/>
    <dgm:cxn modelId="{A650DEDF-D12B-4E12-AEBD-34A30544284B}" type="presOf" srcId="{369B894E-C3C1-49A1-8EA5-3190C00C9D88}" destId="{78C68929-EBD7-4BCC-A759-2FD3E99CC2F4}" srcOrd="0" destOrd="0" presId="urn:microsoft.com/office/officeart/2005/8/layout/hProcess9"/>
    <dgm:cxn modelId="{982D6B6F-C69A-4AE2-8DC3-F04C278168EC}" type="presOf" srcId="{1DFBA018-15C4-40B6-A722-9312DAC6EA37}" destId="{807D2436-7D1C-42A3-AC10-0D7A27D93351}" srcOrd="0" destOrd="0" presId="urn:microsoft.com/office/officeart/2005/8/layout/hProcess9"/>
    <dgm:cxn modelId="{C9D5C6B9-D175-4241-9B69-F9E876AB92BD}" type="presOf" srcId="{005E48BA-E732-45CC-9433-153BC146F727}" destId="{C5E79E37-4738-40A9-AF38-F5E914F87150}" srcOrd="0" destOrd="0" presId="urn:microsoft.com/office/officeart/2005/8/layout/hProcess9"/>
    <dgm:cxn modelId="{4292522D-09DF-4B19-94E5-2B35B0CE6C2C}" srcId="{369B894E-C3C1-49A1-8EA5-3190C00C9D88}" destId="{D7F9A055-2E53-45B3-9632-EAAE752086F1}" srcOrd="0" destOrd="0" parTransId="{05111BEB-2B0D-454D-A49B-327D7C1710B7}" sibTransId="{03F1DFC4-427C-4DED-A5AC-A7B368C32E20}"/>
    <dgm:cxn modelId="{F8586088-E2D4-4660-AB70-23F1ECD3957F}" type="presOf" srcId="{5A8ECBBE-DB2F-4D71-8BBB-B01F18BD829A}" destId="{59F41E2D-DFFF-407D-9917-7F78574AE864}" srcOrd="0" destOrd="0" presId="urn:microsoft.com/office/officeart/2005/8/layout/hProcess9"/>
    <dgm:cxn modelId="{70CE520B-74AA-47FF-9CEC-29D872601A28}" srcId="{369B894E-C3C1-49A1-8EA5-3190C00C9D88}" destId="{5A8ECBBE-DB2F-4D71-8BBB-B01F18BD829A}" srcOrd="1" destOrd="0" parTransId="{F53D7DC3-FBB0-4D93-9452-3FB41DC79850}" sibTransId="{9AFC43F8-F9AA-45F1-9045-BAB5F29E001C}"/>
    <dgm:cxn modelId="{75667A1D-6D92-499C-A9C3-5F05CB1C2C63}" type="presParOf" srcId="{78C68929-EBD7-4BCC-A759-2FD3E99CC2F4}" destId="{2D381B58-6553-4A52-B5E9-5A5E1A229470}" srcOrd="0" destOrd="0" presId="urn:microsoft.com/office/officeart/2005/8/layout/hProcess9"/>
    <dgm:cxn modelId="{914BC2F6-72D0-4531-A1E8-72AA915AAC37}" type="presParOf" srcId="{78C68929-EBD7-4BCC-A759-2FD3E99CC2F4}" destId="{798D1676-17AE-4CBF-AC9D-2E53D9D7E488}" srcOrd="1" destOrd="0" presId="urn:microsoft.com/office/officeart/2005/8/layout/hProcess9"/>
    <dgm:cxn modelId="{A7A8235D-E34C-4DD8-B49C-50C2349EC58F}" type="presParOf" srcId="{798D1676-17AE-4CBF-AC9D-2E53D9D7E488}" destId="{384A9EAD-CC33-45DE-8B3F-053292CE9744}" srcOrd="0" destOrd="0" presId="urn:microsoft.com/office/officeart/2005/8/layout/hProcess9"/>
    <dgm:cxn modelId="{F9DCD1D1-2290-4C84-87FF-1D1B9E1F5A81}" type="presParOf" srcId="{798D1676-17AE-4CBF-AC9D-2E53D9D7E488}" destId="{BCAD290F-F532-4C8E-9E57-4BD22BCEC0F4}" srcOrd="1" destOrd="0" presId="urn:microsoft.com/office/officeart/2005/8/layout/hProcess9"/>
    <dgm:cxn modelId="{AF7DBB02-747C-408D-B8BC-D36EFB2243F3}" type="presParOf" srcId="{798D1676-17AE-4CBF-AC9D-2E53D9D7E488}" destId="{59F41E2D-DFFF-407D-9917-7F78574AE864}" srcOrd="2" destOrd="0" presId="urn:microsoft.com/office/officeart/2005/8/layout/hProcess9"/>
    <dgm:cxn modelId="{584D2455-D2C4-43A2-AB96-ACB618C456BD}" type="presParOf" srcId="{798D1676-17AE-4CBF-AC9D-2E53D9D7E488}" destId="{6345C8FA-909B-4BBA-B22D-1007A7DB298F}" srcOrd="3" destOrd="0" presId="urn:microsoft.com/office/officeart/2005/8/layout/hProcess9"/>
    <dgm:cxn modelId="{36F21A4C-7569-4D6E-A675-0D47F46AF882}" type="presParOf" srcId="{798D1676-17AE-4CBF-AC9D-2E53D9D7E488}" destId="{C5E79E37-4738-40A9-AF38-F5E914F87150}" srcOrd="4" destOrd="0" presId="urn:microsoft.com/office/officeart/2005/8/layout/hProcess9"/>
    <dgm:cxn modelId="{1354DCDA-B7CB-42C7-8214-ED383C6B4F9B}" type="presParOf" srcId="{798D1676-17AE-4CBF-AC9D-2E53D9D7E488}" destId="{0F3CA26C-77C4-408D-A2B1-C8704F459797}" srcOrd="5" destOrd="0" presId="urn:microsoft.com/office/officeart/2005/8/layout/hProcess9"/>
    <dgm:cxn modelId="{92144DA7-EFF6-4C49-9FB5-B4AE83B578B0}" type="presParOf" srcId="{798D1676-17AE-4CBF-AC9D-2E53D9D7E488}" destId="{807D2436-7D1C-42A3-AC10-0D7A27D9335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26679-3EFB-4831-BAE1-E77607A9AEC1}">
      <dsp:nvSpPr>
        <dsp:cNvPr id="0" name=""/>
        <dsp:cNvSpPr/>
      </dsp:nvSpPr>
      <dsp:spPr>
        <a:xfrm>
          <a:off x="39" y="4203"/>
          <a:ext cx="3768605" cy="432000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Родственники </a:t>
          </a:r>
          <a:r>
            <a:rPr lang="en-US" sz="1600" b="1" kern="1200" dirty="0" smtClean="0"/>
            <a:t>PEP</a:t>
          </a:r>
          <a:endParaRPr lang="ru-RU" sz="1600" b="1" kern="1200" dirty="0"/>
        </a:p>
      </dsp:txBody>
      <dsp:txXfrm>
        <a:off x="39" y="4203"/>
        <a:ext cx="3768605" cy="432000"/>
      </dsp:txXfrm>
    </dsp:sp>
    <dsp:sp modelId="{07A88E4B-5C48-494E-8A2B-2973DA7B06C2}">
      <dsp:nvSpPr>
        <dsp:cNvPr id="0" name=""/>
        <dsp:cNvSpPr/>
      </dsp:nvSpPr>
      <dsp:spPr>
        <a:xfrm>
          <a:off x="39" y="436203"/>
          <a:ext cx="3768605" cy="3911625"/>
        </a:xfrm>
        <a:prstGeom prst="rect">
          <a:avLst/>
        </a:prstGeom>
        <a:noFill/>
        <a:ln w="635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latin typeface="+mn-lt"/>
            </a:rPr>
            <a:t>Супруг(а) ВПП/</a:t>
          </a:r>
          <a:r>
            <a:rPr lang="en-GB" sz="1600" b="0" kern="1200" dirty="0" smtClean="0">
              <a:latin typeface="+mn-lt"/>
            </a:rPr>
            <a:t>PEP</a:t>
          </a:r>
          <a:r>
            <a:rPr lang="ru-RU" sz="1600" b="0" kern="1200" dirty="0" smtClean="0">
              <a:latin typeface="+mn-lt"/>
            </a:rPr>
            <a:t>; партнёр / гражданский супруг(а)  ВПП/</a:t>
          </a:r>
          <a:r>
            <a:rPr lang="en-GB" sz="1600" b="0" kern="1200" dirty="0" smtClean="0">
              <a:latin typeface="+mn-lt"/>
            </a:rPr>
            <a:t>PEP</a:t>
          </a:r>
          <a:r>
            <a:rPr lang="ru-RU" sz="1600" b="0" kern="1200" dirty="0" smtClean="0">
              <a:latin typeface="+mn-lt"/>
            </a:rPr>
            <a:t> (без регистрации брака)</a:t>
          </a:r>
          <a:endParaRPr lang="ru-RU" sz="1600" kern="1200" dirty="0"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latin typeface="+mn-lt"/>
            </a:rPr>
            <a:t>Родители и дети (в том числе - приёмные) ВПП/</a:t>
          </a:r>
          <a:r>
            <a:rPr lang="en-GB" sz="1600" b="0" kern="1200" dirty="0" smtClean="0">
              <a:latin typeface="+mn-lt"/>
            </a:rPr>
            <a:t>PEP</a:t>
          </a:r>
          <a:endParaRPr lang="ru-RU" sz="1600" kern="1200" dirty="0"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latin typeface="+mn-lt"/>
            </a:rPr>
            <a:t>Супруг(а) / партнёр/ гражданский супруг(а) без регистрации брака  родителя или ребёнка ВПП/РЕР</a:t>
          </a:r>
          <a:endParaRPr lang="ru-RU" sz="1600" kern="1200" dirty="0"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latin typeface="+mn-lt"/>
            </a:rPr>
            <a:t>Полнородные/</a:t>
          </a:r>
          <a:r>
            <a:rPr lang="ru-RU" sz="1600" b="0" kern="1200" dirty="0" err="1" smtClean="0">
              <a:latin typeface="+mn-lt"/>
            </a:rPr>
            <a:t>неполнородные</a:t>
          </a:r>
          <a:r>
            <a:rPr lang="ru-RU" sz="1600" b="0" kern="1200" dirty="0" smtClean="0">
              <a:latin typeface="+mn-lt"/>
            </a:rPr>
            <a:t>/</a:t>
          </a:r>
          <a:r>
            <a:rPr lang="en-US" sz="1600" b="0" kern="1200" dirty="0" smtClean="0">
              <a:latin typeface="+mn-lt"/>
            </a:rPr>
            <a:t> </a:t>
          </a:r>
          <a:r>
            <a:rPr lang="ru-RU" sz="1600" b="0" kern="1200" dirty="0" smtClean="0">
              <a:latin typeface="+mn-lt"/>
            </a:rPr>
            <a:t>сводные братья и сестры, приемные родители ВПП/РЕР</a:t>
          </a:r>
          <a:endParaRPr lang="ru-RU" sz="1600" kern="1200" dirty="0"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latin typeface="+mn-lt"/>
            </a:rPr>
            <a:t>Дедушка/ бабушка/внук/внучка ВПП</a:t>
          </a:r>
          <a:endParaRPr lang="ru-RU" sz="1600" kern="1200" dirty="0">
            <a:latin typeface="+mn-lt"/>
          </a:endParaRPr>
        </a:p>
      </dsp:txBody>
      <dsp:txXfrm>
        <a:off x="39" y="436203"/>
        <a:ext cx="3768605" cy="3911625"/>
      </dsp:txXfrm>
    </dsp:sp>
    <dsp:sp modelId="{0F32CAAC-67AD-46F3-8E81-4CD0B302ED13}">
      <dsp:nvSpPr>
        <dsp:cNvPr id="0" name=""/>
        <dsp:cNvSpPr/>
      </dsp:nvSpPr>
      <dsp:spPr>
        <a:xfrm>
          <a:off x="4296249" y="4203"/>
          <a:ext cx="3768605" cy="432000"/>
        </a:xfrm>
        <a:prstGeom prst="rect">
          <a:avLst/>
        </a:prstGeom>
        <a:solidFill>
          <a:srgbClr val="EE3424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Лица, связанные с  </a:t>
          </a:r>
          <a:r>
            <a:rPr lang="en-US" sz="1600" b="1" kern="1200" dirty="0" smtClean="0"/>
            <a:t>PEP</a:t>
          </a:r>
          <a:endParaRPr lang="ru-RU" sz="1600" kern="1200" dirty="0"/>
        </a:p>
      </dsp:txBody>
      <dsp:txXfrm>
        <a:off x="4296249" y="4203"/>
        <a:ext cx="3768605" cy="432000"/>
      </dsp:txXfrm>
    </dsp:sp>
    <dsp:sp modelId="{38F0107B-5B01-45CD-8BC9-93BD4285CD14}">
      <dsp:nvSpPr>
        <dsp:cNvPr id="0" name=""/>
        <dsp:cNvSpPr/>
      </dsp:nvSpPr>
      <dsp:spPr>
        <a:xfrm>
          <a:off x="4296249" y="436203"/>
          <a:ext cx="3768605" cy="3911625"/>
        </a:xfrm>
        <a:prstGeom prst="rect">
          <a:avLst/>
        </a:prstGeom>
        <a:noFill/>
        <a:ln w="19050" cap="flat" cmpd="sng" algn="ctr">
          <a:solidFill>
            <a:srgbClr val="E95353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rPr>
            <a:t>Фактические совладельцы бизнеса (совместно с ВПП/Родственником ВПП) </a:t>
          </a:r>
          <a:endParaRPr lang="ru-RU" sz="1600" b="0" kern="1200" dirty="0">
            <a:solidFill>
              <a:schemeClr val="tx1"/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rPr>
            <a:t>Номинальные держатели акций/ долей в интересах ВПП/Родственника ВПП</a:t>
          </a:r>
          <a:endParaRPr lang="ru-RU" sz="1600" b="0" kern="1200" dirty="0">
            <a:solidFill>
              <a:schemeClr val="tx1"/>
            </a:solidFill>
            <a:latin typeface="+mn-lt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rPr>
            <a:t>Личный секретарь (для действующих глав государств и правительств, а также лидеров/председателей политических партий, представленных </a:t>
          </a:r>
          <a:r>
            <a:rPr lang="ru-RU" sz="1600" kern="1200" dirty="0" smtClean="0"/>
            <a:t>в парламенте) 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Лица, связанные с ВПП долговременными дружескими и иными неформальными отношениями (по сведениям из доступных/открытых источников)</a:t>
          </a:r>
          <a:endParaRPr lang="ru-RU" sz="1600" kern="1200" dirty="0"/>
        </a:p>
      </dsp:txBody>
      <dsp:txXfrm>
        <a:off x="4296249" y="436203"/>
        <a:ext cx="3768605" cy="3911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E21AD-C92A-4EEC-9D60-4F3C6A8AF972}">
      <dsp:nvSpPr>
        <dsp:cNvPr id="0" name=""/>
        <dsp:cNvSpPr/>
      </dsp:nvSpPr>
      <dsp:spPr>
        <a:xfrm>
          <a:off x="2930794" y="2818340"/>
          <a:ext cx="2167985" cy="2167985"/>
        </a:xfrm>
        <a:prstGeom prst="ellipse">
          <a:avLst/>
        </a:prstGeom>
        <a:solidFill>
          <a:srgbClr val="E95353"/>
        </a:solidFill>
        <a:ln w="12000" cap="flat" cmpd="sng" algn="ctr">
          <a:noFill/>
          <a:prstDash val="solid"/>
        </a:ln>
        <a:effectLst>
          <a:glow rad="63500">
            <a:schemeClr val="accent1">
              <a:alpha val="45000"/>
              <a:satMod val="12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smtClean="0"/>
            <a:t>Клиент категории РЕР</a:t>
          </a:r>
          <a:endParaRPr lang="ru-RU" sz="1800" b="0" i="0" kern="1200" dirty="0"/>
        </a:p>
      </dsp:txBody>
      <dsp:txXfrm>
        <a:off x="3248288" y="3135834"/>
        <a:ext cx="1532997" cy="1532997"/>
      </dsp:txXfrm>
    </dsp:sp>
    <dsp:sp modelId="{A9D5A5DF-56B2-4659-8FF0-504E8AA8A398}">
      <dsp:nvSpPr>
        <dsp:cNvPr id="0" name=""/>
        <dsp:cNvSpPr/>
      </dsp:nvSpPr>
      <dsp:spPr>
        <a:xfrm rot="12892476">
          <a:off x="1429167" y="2408413"/>
          <a:ext cx="1770765" cy="617875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 w="19050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D2694-B45B-4B8A-B342-F4A6FAB5B4CF}">
      <dsp:nvSpPr>
        <dsp:cNvPr id="0" name=""/>
        <dsp:cNvSpPr/>
      </dsp:nvSpPr>
      <dsp:spPr>
        <a:xfrm>
          <a:off x="558384" y="1387271"/>
          <a:ext cx="2059585" cy="1647668"/>
        </a:xfrm>
        <a:prstGeom prst="roundRect">
          <a:avLst>
            <a:gd name="adj" fmla="val 10000"/>
          </a:avLst>
        </a:prstGeom>
        <a:solidFill>
          <a:schemeClr val="bg1"/>
        </a:solidFill>
        <a:ln w="12000" cap="flat" cmpd="sng" algn="ctr">
          <a:solidFill>
            <a:schemeClr val="accent1"/>
          </a:solidFill>
          <a:prstDash val="solid"/>
        </a:ln>
        <a:effectLst>
          <a:glow rad="63500">
            <a:schemeClr val="accent1">
              <a:alpha val="45000"/>
              <a:satMod val="12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latin typeface="+mn-lt"/>
            </a:rPr>
            <a:t>Исключение из всех коммерческих рассылок банка</a:t>
          </a:r>
          <a:endParaRPr lang="ru-RU" sz="1600" b="0" kern="1200" dirty="0">
            <a:latin typeface="+mn-lt"/>
          </a:endParaRPr>
        </a:p>
      </dsp:txBody>
      <dsp:txXfrm>
        <a:off x="606643" y="1435530"/>
        <a:ext cx="1963067" cy="1551150"/>
      </dsp:txXfrm>
    </dsp:sp>
    <dsp:sp modelId="{4A4402A1-66B1-437D-9A2D-D165C4B832F0}">
      <dsp:nvSpPr>
        <dsp:cNvPr id="0" name=""/>
        <dsp:cNvSpPr/>
      </dsp:nvSpPr>
      <dsp:spPr>
        <a:xfrm rot="16236958">
          <a:off x="3138642" y="1506342"/>
          <a:ext cx="1797167" cy="617875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 w="19050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2498B-013A-4148-8316-F114658F47A0}">
      <dsp:nvSpPr>
        <dsp:cNvPr id="0" name=""/>
        <dsp:cNvSpPr/>
      </dsp:nvSpPr>
      <dsp:spPr>
        <a:xfrm>
          <a:off x="2854849" y="-88889"/>
          <a:ext cx="2384073" cy="2011276"/>
        </a:xfrm>
        <a:prstGeom prst="roundRect">
          <a:avLst>
            <a:gd name="adj" fmla="val 10000"/>
          </a:avLst>
        </a:prstGeom>
        <a:solidFill>
          <a:schemeClr val="bg1"/>
        </a:solidFill>
        <a:ln w="12000" cap="flat" cmpd="sng" algn="ctr">
          <a:solidFill>
            <a:schemeClr val="accent1"/>
          </a:solidFill>
          <a:prstDash val="solid"/>
        </a:ln>
        <a:effectLst>
          <a:glow rad="63500">
            <a:schemeClr val="accent1">
              <a:alpha val="45000"/>
              <a:satMod val="12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latin typeface="+mn-lt"/>
            </a:rPr>
            <a:t>Закрепление за специализированным ДО</a:t>
          </a:r>
          <a:endParaRPr lang="en-US" sz="1600" b="0" kern="1200" dirty="0" smtClean="0">
            <a:latin typeface="+mn-lt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latin typeface="+mn-lt"/>
            </a:rPr>
            <a:t>Высокий уровень качества обслуживания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latin typeface="+mn-lt"/>
            </a:rPr>
            <a:t>Конфиденциальность досье</a:t>
          </a:r>
          <a:endParaRPr lang="ru-RU" sz="1600" b="0" kern="1200" dirty="0">
            <a:latin typeface="+mn-lt"/>
          </a:endParaRPr>
        </a:p>
      </dsp:txBody>
      <dsp:txXfrm>
        <a:off x="2913757" y="-29981"/>
        <a:ext cx="2266257" cy="1893460"/>
      </dsp:txXfrm>
    </dsp:sp>
    <dsp:sp modelId="{351996DB-624B-4BE6-A4F2-F8B9E522D068}">
      <dsp:nvSpPr>
        <dsp:cNvPr id="0" name=""/>
        <dsp:cNvSpPr/>
      </dsp:nvSpPr>
      <dsp:spPr>
        <a:xfrm rot="19500000">
          <a:off x="4825923" y="2396294"/>
          <a:ext cx="1797004" cy="617875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 w="19050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6EFA-9A87-4FB5-A4AA-F3829B96A42F}">
      <dsp:nvSpPr>
        <dsp:cNvPr id="0" name=""/>
        <dsp:cNvSpPr/>
      </dsp:nvSpPr>
      <dsp:spPr>
        <a:xfrm>
          <a:off x="5430642" y="1366038"/>
          <a:ext cx="2059585" cy="1647668"/>
        </a:xfrm>
        <a:prstGeom prst="roundRect">
          <a:avLst>
            <a:gd name="adj" fmla="val 10000"/>
          </a:avLst>
        </a:prstGeom>
        <a:solidFill>
          <a:schemeClr val="bg1"/>
        </a:solidFill>
        <a:ln w="12000" cap="flat" cmpd="sng" algn="ctr">
          <a:solidFill>
            <a:schemeClr val="accent1"/>
          </a:solidFill>
          <a:prstDash val="solid"/>
        </a:ln>
        <a:effectLst>
          <a:glow rad="63500">
            <a:schemeClr val="accent1">
              <a:alpha val="45000"/>
              <a:satMod val="120000"/>
            </a:schemeClr>
          </a:glo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latin typeface="+mn-lt"/>
            </a:rPr>
            <a:t>Мониторинг операций</a:t>
          </a:r>
          <a:endParaRPr lang="ru-RU" sz="1600" b="0" kern="1200" dirty="0">
            <a:latin typeface="+mn-lt"/>
          </a:endParaRPr>
        </a:p>
      </dsp:txBody>
      <dsp:txXfrm>
        <a:off x="5478901" y="1414297"/>
        <a:ext cx="1963067" cy="15511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9681D-EE9A-4937-AEF1-E4B3269C8ECC}">
      <dsp:nvSpPr>
        <dsp:cNvPr id="0" name=""/>
        <dsp:cNvSpPr/>
      </dsp:nvSpPr>
      <dsp:spPr>
        <a:xfrm>
          <a:off x="4259701" y="707554"/>
          <a:ext cx="2235060" cy="601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0685"/>
              </a:lnTo>
              <a:lnTo>
                <a:pt x="2235060" y="530685"/>
              </a:lnTo>
              <a:lnTo>
                <a:pt x="2235060" y="6014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F6ECD-0896-4F50-BA2D-24AB8B3A0607}">
      <dsp:nvSpPr>
        <dsp:cNvPr id="0" name=""/>
        <dsp:cNvSpPr/>
      </dsp:nvSpPr>
      <dsp:spPr>
        <a:xfrm>
          <a:off x="2034623" y="2091423"/>
          <a:ext cx="4396815" cy="564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563"/>
              </a:lnTo>
              <a:lnTo>
                <a:pt x="4396815" y="493563"/>
              </a:lnTo>
              <a:lnTo>
                <a:pt x="4396815" y="56429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1C8F5B-1B81-4DB9-853D-7A3420D0CD4A}">
      <dsp:nvSpPr>
        <dsp:cNvPr id="0" name=""/>
        <dsp:cNvSpPr/>
      </dsp:nvSpPr>
      <dsp:spPr>
        <a:xfrm>
          <a:off x="2034623" y="2091423"/>
          <a:ext cx="1977665" cy="564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563"/>
              </a:lnTo>
              <a:lnTo>
                <a:pt x="1977665" y="493563"/>
              </a:lnTo>
              <a:lnTo>
                <a:pt x="1977665" y="56429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1FD17F-95CC-4FFD-803B-625440D77705}">
      <dsp:nvSpPr>
        <dsp:cNvPr id="0" name=""/>
        <dsp:cNvSpPr/>
      </dsp:nvSpPr>
      <dsp:spPr>
        <a:xfrm>
          <a:off x="1291509" y="2091423"/>
          <a:ext cx="743114" cy="564291"/>
        </a:xfrm>
        <a:custGeom>
          <a:avLst/>
          <a:gdLst/>
          <a:ahLst/>
          <a:cxnLst/>
          <a:rect l="0" t="0" r="0" b="0"/>
          <a:pathLst>
            <a:path>
              <a:moveTo>
                <a:pt x="743114" y="0"/>
              </a:moveTo>
              <a:lnTo>
                <a:pt x="743114" y="493563"/>
              </a:lnTo>
              <a:lnTo>
                <a:pt x="0" y="493563"/>
              </a:lnTo>
              <a:lnTo>
                <a:pt x="0" y="56429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7A3C57-3142-4A19-988D-30BE9F16816D}">
      <dsp:nvSpPr>
        <dsp:cNvPr id="0" name=""/>
        <dsp:cNvSpPr/>
      </dsp:nvSpPr>
      <dsp:spPr>
        <a:xfrm>
          <a:off x="2034623" y="707554"/>
          <a:ext cx="2225077" cy="601772"/>
        </a:xfrm>
        <a:custGeom>
          <a:avLst/>
          <a:gdLst/>
          <a:ahLst/>
          <a:cxnLst/>
          <a:rect l="0" t="0" r="0" b="0"/>
          <a:pathLst>
            <a:path>
              <a:moveTo>
                <a:pt x="2225077" y="0"/>
              </a:moveTo>
              <a:lnTo>
                <a:pt x="2225077" y="531044"/>
              </a:lnTo>
              <a:lnTo>
                <a:pt x="0" y="531044"/>
              </a:lnTo>
              <a:lnTo>
                <a:pt x="0" y="6017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4B9888-B318-40BF-873E-E5B2B58BD438}">
      <dsp:nvSpPr>
        <dsp:cNvPr id="0" name=""/>
        <dsp:cNvSpPr/>
      </dsp:nvSpPr>
      <dsp:spPr>
        <a:xfrm>
          <a:off x="2622210" y="-75482"/>
          <a:ext cx="3274981" cy="783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6DE06-F3EE-4172-BDBC-794026D0FDCF}">
      <dsp:nvSpPr>
        <dsp:cNvPr id="0" name=""/>
        <dsp:cNvSpPr/>
      </dsp:nvSpPr>
      <dsp:spPr>
        <a:xfrm>
          <a:off x="2707042" y="5107"/>
          <a:ext cx="3274981" cy="7830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Клиент может быть идентифицирован в качестве РЕР:</a:t>
          </a:r>
          <a:endParaRPr lang="ru-RU" sz="16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29976" y="28041"/>
        <a:ext cx="3229113" cy="737169"/>
      </dsp:txXfrm>
    </dsp:sp>
    <dsp:sp modelId="{A3634093-07D1-4011-87AA-F613E07C6F24}">
      <dsp:nvSpPr>
        <dsp:cNvPr id="0" name=""/>
        <dsp:cNvSpPr/>
      </dsp:nvSpPr>
      <dsp:spPr>
        <a:xfrm>
          <a:off x="807823" y="1309327"/>
          <a:ext cx="2453599" cy="7820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491A0-9F6A-40A4-9058-D9DC32B79911}">
      <dsp:nvSpPr>
        <dsp:cNvPr id="0" name=""/>
        <dsp:cNvSpPr/>
      </dsp:nvSpPr>
      <dsp:spPr>
        <a:xfrm>
          <a:off x="892655" y="1389917"/>
          <a:ext cx="2453599" cy="7820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в процессе приема на обслуживание / обновления сведений</a:t>
          </a:r>
          <a:endParaRPr lang="ru-RU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15562" y="1412824"/>
        <a:ext cx="2407785" cy="736282"/>
      </dsp:txXfrm>
    </dsp:sp>
    <dsp:sp modelId="{F0657948-9BEA-4247-8D0C-B36FE797B18D}">
      <dsp:nvSpPr>
        <dsp:cNvPr id="0" name=""/>
        <dsp:cNvSpPr/>
      </dsp:nvSpPr>
      <dsp:spPr>
        <a:xfrm>
          <a:off x="3931" y="2655715"/>
          <a:ext cx="2575154" cy="720854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7E9CA-22E1-46C3-BB93-CC9C2E6B2729}">
      <dsp:nvSpPr>
        <dsp:cNvPr id="0" name=""/>
        <dsp:cNvSpPr/>
      </dsp:nvSpPr>
      <dsp:spPr>
        <a:xfrm>
          <a:off x="88763" y="2736305"/>
          <a:ext cx="2575154" cy="7208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Клиент сам идентифицирует себя в качестве РЕР при заполнении ТФ-3201-293</a:t>
          </a:r>
          <a:endParaRPr lang="ru-RU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9876" y="2757418"/>
        <a:ext cx="2532928" cy="678628"/>
      </dsp:txXfrm>
    </dsp:sp>
    <dsp:sp modelId="{DDFE7029-E864-4BF3-800E-9D74DEA11FB3}">
      <dsp:nvSpPr>
        <dsp:cNvPr id="0" name=""/>
        <dsp:cNvSpPr/>
      </dsp:nvSpPr>
      <dsp:spPr>
        <a:xfrm>
          <a:off x="2870976" y="2655715"/>
          <a:ext cx="2282624" cy="720854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C63D0-1485-4D9C-8688-AE94EFE5245E}">
      <dsp:nvSpPr>
        <dsp:cNvPr id="0" name=""/>
        <dsp:cNvSpPr/>
      </dsp:nvSpPr>
      <dsp:spPr>
        <a:xfrm>
          <a:off x="2955808" y="2736305"/>
          <a:ext cx="2282624" cy="7208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выявлено  совпадение в </a:t>
          </a:r>
          <a:r>
            <a:rPr lang="en-US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PEP Online</a:t>
          </a:r>
          <a:r>
            <a:rPr lang="ru-RU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OCR/</a:t>
          </a:r>
          <a:r>
            <a:rPr lang="en-US" sz="1400" b="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Vizir</a:t>
          </a:r>
          <a:r>
            <a:rPr lang="en-US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ru-RU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6921" y="2757418"/>
        <a:ext cx="2240398" cy="678628"/>
      </dsp:txXfrm>
    </dsp:sp>
    <dsp:sp modelId="{2677FB61-B02C-4624-97F6-454A7E559F36}">
      <dsp:nvSpPr>
        <dsp:cNvPr id="0" name=""/>
        <dsp:cNvSpPr/>
      </dsp:nvSpPr>
      <dsp:spPr>
        <a:xfrm>
          <a:off x="5488842" y="2655715"/>
          <a:ext cx="1885192" cy="720854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B61C1-02D0-4136-9525-7323049DF903}">
      <dsp:nvSpPr>
        <dsp:cNvPr id="0" name=""/>
        <dsp:cNvSpPr/>
      </dsp:nvSpPr>
      <dsp:spPr>
        <a:xfrm>
          <a:off x="5573674" y="2736305"/>
          <a:ext cx="1885192" cy="7208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должность клиента соответствует критериям РЕР</a:t>
          </a:r>
          <a:endParaRPr lang="ru-RU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94787" y="2757418"/>
        <a:ext cx="1842966" cy="678628"/>
      </dsp:txXfrm>
    </dsp:sp>
    <dsp:sp modelId="{AE853D5A-5CBE-4B7B-B5DC-F6BC7A42A605}">
      <dsp:nvSpPr>
        <dsp:cNvPr id="0" name=""/>
        <dsp:cNvSpPr/>
      </dsp:nvSpPr>
      <dsp:spPr>
        <a:xfrm>
          <a:off x="4725440" y="1308968"/>
          <a:ext cx="3538643" cy="848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03A53-80CC-4F29-B244-3AF01E360EF2}">
      <dsp:nvSpPr>
        <dsp:cNvPr id="0" name=""/>
        <dsp:cNvSpPr/>
      </dsp:nvSpPr>
      <dsp:spPr>
        <a:xfrm>
          <a:off x="4810271" y="1389558"/>
          <a:ext cx="3538643" cy="8489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в процессе ежеквартальной проверки клиентской базы на наличие совпадений со списками РЕР в системе</a:t>
          </a:r>
          <a:r>
            <a:rPr lang="en-US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 PEP online (OCR/</a:t>
          </a:r>
          <a:r>
            <a:rPr lang="en-US" sz="1400" b="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Vizir</a:t>
          </a:r>
          <a:r>
            <a:rPr lang="en-US" sz="1400" b="0" kern="1200" dirty="0" smtClean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ru-RU" sz="14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35136" y="1414423"/>
        <a:ext cx="3488913" cy="7992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3E297-43A2-4E31-A0B4-47E651ACE1A1}">
      <dsp:nvSpPr>
        <dsp:cNvPr id="0" name=""/>
        <dsp:cNvSpPr/>
      </dsp:nvSpPr>
      <dsp:spPr>
        <a:xfrm rot="5400000">
          <a:off x="-221456" y="221456"/>
          <a:ext cx="1476374" cy="1033462"/>
        </a:xfrm>
        <a:prstGeom prst="chevron">
          <a:avLst/>
        </a:prstGeom>
        <a:solidFill>
          <a:srgbClr val="E95353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chemeClr val="bg1"/>
              </a:solidFill>
            </a:rPr>
            <a:t>1 этап </a:t>
          </a:r>
          <a:endParaRPr lang="ru-RU" sz="1600" b="1" kern="1200" dirty="0">
            <a:solidFill>
              <a:schemeClr val="bg1"/>
            </a:solidFill>
          </a:endParaRPr>
        </a:p>
      </dsp:txBody>
      <dsp:txXfrm rot="-5400000">
        <a:off x="0" y="516731"/>
        <a:ext cx="1033462" cy="442912"/>
      </dsp:txXfrm>
    </dsp:sp>
    <dsp:sp modelId="{E8F07808-DAFC-4903-89D9-DB796C1FD2C0}">
      <dsp:nvSpPr>
        <dsp:cNvPr id="0" name=""/>
        <dsp:cNvSpPr/>
      </dsp:nvSpPr>
      <dsp:spPr>
        <a:xfrm rot="5400000">
          <a:off x="4249377" y="-3214970"/>
          <a:ext cx="959643" cy="7391473"/>
        </a:xfrm>
        <a:prstGeom prst="round2SameRect">
          <a:avLst/>
        </a:prstGeom>
        <a:solidFill>
          <a:schemeClr val="lt1"/>
        </a:solidFill>
        <a:ln w="19050" cap="flat" cmpd="sng" algn="ctr">
          <a:solidFill>
            <a:srgbClr val="E95353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kern="1200" dirty="0" smtClean="0"/>
            <a:t>Менеджер клиента должен убедиться, что предоставлен полный пакет документов согласно Программе идентификации клиента, представителя клиента, выгодоприобретателя, бенефициарного владельца в ПАО РОСБАНК.</a:t>
          </a:r>
          <a:endParaRPr lang="ru-RU" sz="1600" b="0" i="0" kern="1200" dirty="0"/>
        </a:p>
      </dsp:txBody>
      <dsp:txXfrm rot="-5400000">
        <a:off x="1033462" y="47791"/>
        <a:ext cx="7344627" cy="865951"/>
      </dsp:txXfrm>
    </dsp:sp>
    <dsp:sp modelId="{352FBEBF-6BC4-49BB-917E-ED95D57F548A}">
      <dsp:nvSpPr>
        <dsp:cNvPr id="0" name=""/>
        <dsp:cNvSpPr/>
      </dsp:nvSpPr>
      <dsp:spPr>
        <a:xfrm rot="5400000">
          <a:off x="-221456" y="1504172"/>
          <a:ext cx="1476374" cy="1033462"/>
        </a:xfrm>
        <a:prstGeom prst="chevron">
          <a:avLst/>
        </a:prstGeom>
        <a:solidFill>
          <a:srgbClr val="E95353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chemeClr val="bg1"/>
              </a:solidFill>
            </a:rPr>
            <a:t>2 этап </a:t>
          </a:r>
          <a:endParaRPr lang="ru-RU" sz="1600" kern="1200" dirty="0">
            <a:solidFill>
              <a:schemeClr val="bg1"/>
            </a:solidFill>
          </a:endParaRPr>
        </a:p>
      </dsp:txBody>
      <dsp:txXfrm rot="-5400000">
        <a:off x="0" y="1799447"/>
        <a:ext cx="1033462" cy="442912"/>
      </dsp:txXfrm>
    </dsp:sp>
    <dsp:sp modelId="{70C69DC4-081E-42F6-94B9-40A8F5D4FF94}">
      <dsp:nvSpPr>
        <dsp:cNvPr id="0" name=""/>
        <dsp:cNvSpPr/>
      </dsp:nvSpPr>
      <dsp:spPr>
        <a:xfrm rot="5400000">
          <a:off x="4249377" y="-1953350"/>
          <a:ext cx="959643" cy="7391473"/>
        </a:xfrm>
        <a:prstGeom prst="round2SameRect">
          <a:avLst/>
        </a:prstGeom>
        <a:solidFill>
          <a:schemeClr val="lt1"/>
        </a:solidFill>
        <a:ln w="19050" cap="flat" cmpd="sng" algn="ctr">
          <a:solidFill>
            <a:srgbClr val="E95353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kern="1200" dirty="0" smtClean="0"/>
            <a:t>Менеджер клиента проводит процедуру ЗСК в </a:t>
          </a:r>
          <a:r>
            <a:rPr lang="en-US" sz="1600" b="0" i="0" kern="1200" dirty="0" smtClean="0"/>
            <a:t>NRT</a:t>
          </a:r>
          <a:r>
            <a:rPr lang="ru-RU" sz="1600" b="0" i="0" kern="1200" dirty="0" smtClean="0"/>
            <a:t>. </a:t>
          </a:r>
          <a:endParaRPr lang="ru-RU" sz="1600" b="0" i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kern="1200" dirty="0" smtClean="0"/>
            <a:t>Правила проведения отражены в обучающем курсе - Курс 04_NRT Создание клиента. Процедура ЗСК_Ремедиация данных_обновление. </a:t>
          </a:r>
          <a:endParaRPr lang="ru-RU" sz="1600" b="0" i="0" kern="1200" dirty="0"/>
        </a:p>
      </dsp:txBody>
      <dsp:txXfrm rot="-5400000">
        <a:off x="1033462" y="1309411"/>
        <a:ext cx="7344627" cy="865951"/>
      </dsp:txXfrm>
    </dsp:sp>
    <dsp:sp modelId="{38DCA4F1-AB0D-49A7-86F4-182F970D5FD1}">
      <dsp:nvSpPr>
        <dsp:cNvPr id="0" name=""/>
        <dsp:cNvSpPr/>
      </dsp:nvSpPr>
      <dsp:spPr>
        <a:xfrm rot="5400000">
          <a:off x="-221456" y="2808137"/>
          <a:ext cx="1476374" cy="1033462"/>
        </a:xfrm>
        <a:prstGeom prst="chevron">
          <a:avLst/>
        </a:prstGeom>
        <a:solidFill>
          <a:srgbClr val="E95353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chemeClr val="bg1"/>
              </a:solidFill>
            </a:rPr>
            <a:t>3 этап</a:t>
          </a:r>
          <a:endParaRPr lang="ru-RU" sz="1600" b="1" kern="1200" dirty="0">
            <a:solidFill>
              <a:schemeClr val="bg1"/>
            </a:solidFill>
          </a:endParaRPr>
        </a:p>
      </dsp:txBody>
      <dsp:txXfrm rot="-5400000">
        <a:off x="0" y="3103412"/>
        <a:ext cx="1033462" cy="442912"/>
      </dsp:txXfrm>
    </dsp:sp>
    <dsp:sp modelId="{18889F29-55F7-400B-B01B-796EB749DA7F}">
      <dsp:nvSpPr>
        <dsp:cNvPr id="0" name=""/>
        <dsp:cNvSpPr/>
      </dsp:nvSpPr>
      <dsp:spPr>
        <a:xfrm rot="5400000">
          <a:off x="4227185" y="-597354"/>
          <a:ext cx="1004027" cy="7391473"/>
        </a:xfrm>
        <a:prstGeom prst="round2SameRect">
          <a:avLst/>
        </a:prstGeom>
        <a:solidFill>
          <a:schemeClr val="lt1"/>
        </a:solidFill>
        <a:ln w="19050" cap="flat" cmpd="sng" algn="ctr">
          <a:solidFill>
            <a:srgbClr val="E95353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kern="1200" dirty="0" smtClean="0"/>
            <a:t>Менеджер проходит процедуру согласования ЗСК.</a:t>
          </a:r>
          <a:endParaRPr lang="ru-RU" sz="1600" b="0" i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1" i="0" kern="1200" dirty="0" smtClean="0">
              <a:solidFill>
                <a:srgbClr val="E95353"/>
              </a:solidFill>
            </a:rPr>
            <a:t>Установление деловых отношений до завершения процедуры согласования ЗСК запрещается. </a:t>
          </a:r>
          <a:endParaRPr lang="ru-RU" sz="1600" b="1" i="0" kern="1200" dirty="0">
            <a:solidFill>
              <a:srgbClr val="E95353"/>
            </a:solidFill>
          </a:endParaRPr>
        </a:p>
      </dsp:txBody>
      <dsp:txXfrm rot="-5400000">
        <a:off x="1033463" y="2645381"/>
        <a:ext cx="7342460" cy="9060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81B58-6553-4A52-B5E9-5A5E1A229470}">
      <dsp:nvSpPr>
        <dsp:cNvPr id="0" name=""/>
        <dsp:cNvSpPr/>
      </dsp:nvSpPr>
      <dsp:spPr>
        <a:xfrm>
          <a:off x="561662" y="0"/>
          <a:ext cx="6365507" cy="3744416"/>
        </a:xfrm>
        <a:prstGeom prst="rightArrow">
          <a:avLst/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384A9EAD-CC33-45DE-8B3F-053292CE9744}">
      <dsp:nvSpPr>
        <dsp:cNvPr id="0" name=""/>
        <dsp:cNvSpPr/>
      </dsp:nvSpPr>
      <dsp:spPr>
        <a:xfrm>
          <a:off x="2559" y="1123324"/>
          <a:ext cx="1663047" cy="1497766"/>
        </a:xfrm>
        <a:prstGeom prst="roundRect">
          <a:avLst/>
        </a:prstGeom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solidFill>
                <a:schemeClr val="bg1"/>
              </a:solidFill>
            </a:rPr>
            <a:t>Согласование руководителя офиса</a:t>
          </a:r>
          <a:r>
            <a:rPr lang="en-US" sz="1600" b="0" kern="1200" dirty="0" smtClean="0">
              <a:solidFill>
                <a:schemeClr val="bg1"/>
              </a:solidFill>
            </a:rPr>
            <a:t>*</a:t>
          </a:r>
          <a:endParaRPr lang="ru-RU" sz="1600" b="0" kern="1200" dirty="0" smtClean="0">
            <a:solidFill>
              <a:schemeClr val="bg1"/>
            </a:solidFill>
          </a:endParaRPr>
        </a:p>
      </dsp:txBody>
      <dsp:txXfrm>
        <a:off x="75674" y="1196439"/>
        <a:ext cx="1516817" cy="1351536"/>
      </dsp:txXfrm>
    </dsp:sp>
    <dsp:sp modelId="{59F41E2D-DFFF-407D-9917-7F78574AE864}">
      <dsp:nvSpPr>
        <dsp:cNvPr id="0" name=""/>
        <dsp:cNvSpPr/>
      </dsp:nvSpPr>
      <dsp:spPr>
        <a:xfrm>
          <a:off x="1942781" y="1123324"/>
          <a:ext cx="1663047" cy="1497766"/>
        </a:xfrm>
        <a:prstGeom prst="roundRect">
          <a:avLst/>
        </a:prstGeom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solidFill>
                <a:schemeClr val="bg1"/>
              </a:solidFill>
            </a:rPr>
            <a:t>Согласование ДФМ</a:t>
          </a:r>
          <a:r>
            <a:rPr lang="en-US" sz="1600" b="0" kern="1200" dirty="0" smtClean="0">
              <a:solidFill>
                <a:schemeClr val="bg1"/>
              </a:solidFill>
            </a:rPr>
            <a:t>*</a:t>
          </a:r>
          <a:endParaRPr lang="ru-RU" sz="1600" b="0" kern="1200" dirty="0">
            <a:solidFill>
              <a:schemeClr val="bg1"/>
            </a:solidFill>
          </a:endParaRPr>
        </a:p>
      </dsp:txBody>
      <dsp:txXfrm>
        <a:off x="2015896" y="1196439"/>
        <a:ext cx="1516817" cy="1351536"/>
      </dsp:txXfrm>
    </dsp:sp>
    <dsp:sp modelId="{C5E79E37-4738-40A9-AF38-F5E914F87150}">
      <dsp:nvSpPr>
        <dsp:cNvPr id="0" name=""/>
        <dsp:cNvSpPr/>
      </dsp:nvSpPr>
      <dsp:spPr>
        <a:xfrm>
          <a:off x="3883003" y="1123324"/>
          <a:ext cx="1663047" cy="1497766"/>
        </a:xfrm>
        <a:prstGeom prst="roundRect">
          <a:avLst/>
        </a:prstGeom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solidFill>
                <a:schemeClr val="bg1"/>
              </a:solidFill>
            </a:rPr>
            <a:t>Согласование руководителя банка / его заместителя**</a:t>
          </a:r>
          <a:endParaRPr lang="ru-RU" sz="1600" b="0" kern="1200" dirty="0">
            <a:solidFill>
              <a:schemeClr val="bg1"/>
            </a:solidFill>
          </a:endParaRPr>
        </a:p>
      </dsp:txBody>
      <dsp:txXfrm>
        <a:off x="3956118" y="1196439"/>
        <a:ext cx="1516817" cy="1351536"/>
      </dsp:txXfrm>
    </dsp:sp>
    <dsp:sp modelId="{807D2436-7D1C-42A3-AC10-0D7A27D93351}">
      <dsp:nvSpPr>
        <dsp:cNvPr id="0" name=""/>
        <dsp:cNvSpPr/>
      </dsp:nvSpPr>
      <dsp:spPr>
        <a:xfrm>
          <a:off x="5823225" y="1123324"/>
          <a:ext cx="1663047" cy="1497766"/>
        </a:xfrm>
        <a:prstGeom prst="roundRect">
          <a:avLst/>
        </a:prstGeom>
        <a:solidFill>
          <a:srgbClr val="E95353"/>
        </a:solidFill>
        <a:ln>
          <a:noFill/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kern="1200" dirty="0" smtClean="0">
              <a:solidFill>
                <a:schemeClr val="bg1"/>
              </a:solidFill>
            </a:rPr>
            <a:t>Установление деловых отношений с клиентом категории РЕР</a:t>
          </a:r>
          <a:endParaRPr lang="ru-RU" sz="1600" b="0" kern="1200" dirty="0">
            <a:solidFill>
              <a:schemeClr val="bg1"/>
            </a:solidFill>
          </a:endParaRPr>
        </a:p>
      </dsp:txBody>
      <dsp:txXfrm>
        <a:off x="5896340" y="1196439"/>
        <a:ext cx="1516817" cy="1351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>
            <a:lvl1pPr defTabSz="915005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>
            <a:lvl1pPr algn="r" defTabSz="915005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2288"/>
            <a:ext cx="29432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7" tIns="45718" rIns="91437" bIns="45718" numCol="1" anchor="b" anchorCtr="0" compatLnSpc="1">
            <a:prstTxWarp prst="textNoShape">
              <a:avLst/>
            </a:prstTxWarp>
          </a:bodyPr>
          <a:lstStyle>
            <a:lvl1pPr defTabSz="915005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12288"/>
            <a:ext cx="29432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7" tIns="45718" rIns="91437" bIns="45718" numCol="1" anchor="b" anchorCtr="0" compatLnSpc="1">
            <a:prstTxWarp prst="textNoShape">
              <a:avLst/>
            </a:prstTxWarp>
          </a:bodyPr>
          <a:lstStyle>
            <a:lvl1pPr algn="r" defTabSz="915005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5CFA62B1-E454-4370-AE5D-E5C138C7E85F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368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>
            <a:lvl1pPr defTabSz="91500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32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>
            <a:lvl1pPr algn="r" defTabSz="91500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024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4538"/>
            <a:ext cx="4949825" cy="3713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05350"/>
            <a:ext cx="4981575" cy="445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2288"/>
            <a:ext cx="29432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b" anchorCtr="0" compatLnSpc="1">
            <a:prstTxWarp prst="textNoShape">
              <a:avLst/>
            </a:prstTxWarp>
          </a:bodyPr>
          <a:lstStyle>
            <a:lvl1pPr defTabSz="91500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639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12288"/>
            <a:ext cx="29432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b" anchorCtr="0" compatLnSpc="1">
            <a:prstTxWarp prst="textNoShape">
              <a:avLst/>
            </a:prstTxWarp>
          </a:bodyPr>
          <a:lstStyle>
            <a:lvl1pPr algn="r" defTabSz="91500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EB2C1F5-6554-4666-A698-F0A556E285A1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69486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4400"/>
            <a:fld id="{1EDC9A29-B978-4ECD-B67E-72E4A11513E9}" type="slidenum">
              <a:rPr lang="fr-FR" smtClean="0"/>
              <a:pPr defTabSz="914400"/>
              <a:t>1</a:t>
            </a:fld>
            <a:endParaRPr lang="fr-FR" dirty="0" smtClean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B2C1F5-6554-4666-A698-F0A556E285A1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3667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B2C1F5-6554-4666-A698-F0A556E285A1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B2C1F5-6554-4666-A698-F0A556E285A1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6689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9" descr="SOCEE10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3359150" y="6116638"/>
            <a:ext cx="24257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60"/>
          <p:cNvSpPr>
            <a:spLocks noChangeShapeType="1"/>
          </p:cNvSpPr>
          <p:nvPr userDrawn="1"/>
        </p:nvSpPr>
        <p:spPr bwMode="gray">
          <a:xfrm flipV="1">
            <a:off x="4572000" y="209550"/>
            <a:ext cx="0" cy="266700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18488" name="Rectangle 56"/>
          <p:cNvSpPr>
            <a:spLocks noGrp="1" noChangeArrowheads="1"/>
          </p:cNvSpPr>
          <p:nvPr>
            <p:ph type="ctrTitle"/>
          </p:nvPr>
        </p:nvSpPr>
        <p:spPr>
          <a:xfrm>
            <a:off x="557213" y="2085975"/>
            <a:ext cx="8029575" cy="2681288"/>
          </a:xfrm>
        </p:spPr>
        <p:txBody>
          <a:bodyPr/>
          <a:lstStyle>
            <a:lvl1pPr algn="ctr">
              <a:lnSpc>
                <a:spcPct val="80000"/>
              </a:lnSpc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8489" name="Rectangle 57"/>
          <p:cNvSpPr>
            <a:spLocks noGrp="1" noChangeArrowheads="1"/>
          </p:cNvSpPr>
          <p:nvPr>
            <p:ph type="subTitle" idx="1"/>
          </p:nvPr>
        </p:nvSpPr>
        <p:spPr>
          <a:xfrm>
            <a:off x="557213" y="1295400"/>
            <a:ext cx="8029575" cy="71913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600"/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6" name="Rectangle 58"/>
          <p:cNvSpPr>
            <a:spLocks noGrp="1" noChangeArrowheads="1"/>
          </p:cNvSpPr>
          <p:nvPr>
            <p:ph type="dt" sz="half" idx="10"/>
          </p:nvPr>
        </p:nvSpPr>
        <p:spPr>
          <a:xfrm>
            <a:off x="557213" y="4849813"/>
            <a:ext cx="8029575" cy="479425"/>
          </a:xfrm>
        </p:spPr>
        <p:txBody>
          <a:bodyPr rIns="0" anchor="b"/>
          <a:lstStyle>
            <a:lvl1pPr algn="ctr">
              <a:defRPr sz="1100"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5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5E092E29-6DBE-406E-81F8-C94524A9517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6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5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55DBA452-2C67-4537-A746-5A50A8B3C30D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6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57213" y="1052513"/>
            <a:ext cx="3938587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3938588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6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0A36F640-6B1D-43E6-A829-93CC8C5F7CF8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7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8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7165F843-0DE1-4CA2-A8D7-847E9719EAC7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9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4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1611A2B7-38D1-4445-8808-71DA15CD65AD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5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3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94E0A69D-B558-4143-A064-3B81268F5B74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4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6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EAEB6119-21AA-4F84-8579-DF0483AAD7C9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7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6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F4180B0D-AA6D-4227-88DB-D0DE4530514F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7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5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9DF8F8C0-9113-4BFD-9365-2AADD8B15F4E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6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80188" y="260350"/>
            <a:ext cx="2006600" cy="56896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57213" y="260350"/>
            <a:ext cx="5870575" cy="56896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5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1BE53C95-53E2-4014-9E0C-93C989D99CAC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6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7213" y="260350"/>
            <a:ext cx="7831137" cy="50006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557213" y="1052513"/>
            <a:ext cx="3938587" cy="4897437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3938588" cy="4897437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6" name="Rectangle 8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P.</a:t>
            </a:r>
            <a:fld id="{4D842820-0748-4C89-A59B-EF2E5CFCC48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7" name="Rectangle 8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</p:spTree>
  </p:cSld>
  <p:clrMapOvr>
    <a:masterClrMapping/>
  </p:clrMapOvr>
  <p:transition>
    <p:cut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group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gray">
          <a:xfrm>
            <a:off x="287338" y="6091238"/>
            <a:ext cx="3065462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78"/>
          <p:cNvSpPr>
            <a:spLocks noGrp="1" noChangeArrowheads="1"/>
          </p:cNvSpPr>
          <p:nvPr>
            <p:ph type="title"/>
          </p:nvPr>
        </p:nvSpPr>
        <p:spPr bwMode="gray">
          <a:xfrm>
            <a:off x="557213" y="260350"/>
            <a:ext cx="783113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8" name="Rectangle 79"/>
          <p:cNvSpPr>
            <a:spLocks noGrp="1" noChangeArrowheads="1"/>
          </p:cNvSpPr>
          <p:nvPr>
            <p:ph type="body" idx="1"/>
          </p:nvPr>
        </p:nvSpPr>
        <p:spPr bwMode="gray">
          <a:xfrm>
            <a:off x="557213" y="1052513"/>
            <a:ext cx="8029575" cy="489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7488" name="Rectangle 80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3838" y="6416675"/>
            <a:ext cx="1814512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36000" bIns="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 dirty="0"/>
              <a:t>2012</a:t>
            </a:r>
          </a:p>
        </p:txBody>
      </p:sp>
      <p:sp>
        <p:nvSpPr>
          <p:cNvPr id="17489" name="Rectangle 81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8459788" y="6416675"/>
            <a:ext cx="360362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8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 dirty="0"/>
              <a:t>P.</a:t>
            </a:r>
            <a:fld id="{F3F3AE7A-44D9-4683-B736-90DED99D2545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17490" name="Rectangle 8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2771775" y="6416675"/>
            <a:ext cx="3597275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 dirty="0"/>
              <a:t>C1 – LES REGISTRES</a:t>
            </a:r>
          </a:p>
        </p:txBody>
      </p:sp>
      <p:sp>
        <p:nvSpPr>
          <p:cNvPr id="17492" name="Line 84"/>
          <p:cNvSpPr>
            <a:spLocks noChangeShapeType="1"/>
          </p:cNvSpPr>
          <p:nvPr userDrawn="1"/>
        </p:nvSpPr>
        <p:spPr bwMode="gray">
          <a:xfrm flipH="1">
            <a:off x="323850" y="755650"/>
            <a:ext cx="8496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17493" name="Rectangle 85"/>
          <p:cNvSpPr>
            <a:spLocks noChangeArrowheads="1"/>
          </p:cNvSpPr>
          <p:nvPr userDrawn="1"/>
        </p:nvSpPr>
        <p:spPr bwMode="gray">
          <a:xfrm>
            <a:off x="8426450" y="6415088"/>
            <a:ext cx="71438" cy="4429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algn="ctr">
              <a:defRPr/>
            </a:pPr>
            <a:r>
              <a:rPr lang="fr-FR" sz="800" b="1" dirty="0">
                <a:solidFill>
                  <a:srgbClr val="000000"/>
                </a:solidFill>
                <a:cs typeface="Arial" charset="0"/>
              </a:rPr>
              <a:t>|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transition>
    <p:cut thruBlk="1"/>
  </p:transition>
  <p:hf hdr="0"/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ebdings" pitchFamily="18" charset="2"/>
        <a:buChar char="4"/>
        <a:defRPr sz="1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Char char=""/>
        <a:defRPr sz="1400"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1400" 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1400" i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1400" i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1400" i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1400" i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1400" i="1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KYCDKK@rosbank.ru?subject=&#1057;&#1056;&#1054;&#1063;&#1053;&#1054;!%20PEP-&#1082;&#1083;&#1080;&#1077;&#1085;&#1090;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KYCDKK@rosbank.ru?subject=&#1057;&#1056;&#1054;&#1063;&#1053;&#1054;!%20PEP-&#1082;&#1083;&#1080;&#1077;&#1085;&#1090;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KYCDKK@rosbank.ru?subject=&#1057;&#1056;&#1054;&#1063;&#1053;&#1054;!%20PEP-&#1082;&#1083;&#1080;&#1077;&#1085;&#1090;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2060848"/>
            <a:ext cx="9144000" cy="2681288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r>
              <a:rPr lang="ru-RU" sz="1800" i="1" dirty="0" smtClean="0">
                <a:solidFill>
                  <a:srgbClr val="FF0000"/>
                </a:solidFill>
                <a:latin typeface="+mn-lt"/>
              </a:rPr>
              <a:t/>
            </a:r>
            <a:br>
              <a:rPr lang="ru-RU" sz="1800" i="1" dirty="0" smtClean="0">
                <a:solidFill>
                  <a:srgbClr val="FF0000"/>
                </a:solidFill>
                <a:latin typeface="+mn-lt"/>
              </a:rPr>
            </a:br>
            <a:r>
              <a:rPr lang="ru-RU" sz="1800" i="1" dirty="0">
                <a:solidFill>
                  <a:srgbClr val="FF0000"/>
                </a:solidFill>
                <a:latin typeface="+mn-lt"/>
              </a:rPr>
              <a:t/>
            </a:r>
            <a:br>
              <a:rPr lang="ru-RU" sz="1800" i="1" dirty="0">
                <a:solidFill>
                  <a:srgbClr val="FF0000"/>
                </a:solidFill>
                <a:latin typeface="+mn-lt"/>
              </a:rPr>
            </a:br>
            <a:r>
              <a:rPr lang="ru-RU" sz="2000" kern="1200" dirty="0" smtClean="0">
                <a:solidFill>
                  <a:srgbClr val="000000"/>
                </a:solidFill>
                <a:latin typeface="Arial" charset="0"/>
                <a:ea typeface="+mn-ea"/>
                <a:cs typeface="+mn-cs"/>
              </a:rPr>
              <a:t>Росбанк</a:t>
            </a:r>
            <a:endParaRPr lang="en-US" sz="2000" kern="1200" dirty="0">
              <a:solidFill>
                <a:srgbClr val="000000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5" name="Sous-titre 4"/>
          <p:cNvSpPr>
            <a:spLocks noGrp="1"/>
          </p:cNvSpPr>
          <p:nvPr>
            <p:ph type="subTitle" idx="4294967295"/>
          </p:nvPr>
        </p:nvSpPr>
        <p:spPr>
          <a:xfrm>
            <a:off x="485775" y="2492896"/>
            <a:ext cx="8029575" cy="432048"/>
          </a:xfrm>
        </p:spPr>
        <p:txBody>
          <a:bodyPr/>
          <a:lstStyle/>
          <a:p>
            <a:pPr marL="0" indent="0" algn="ctr">
              <a:buNone/>
            </a:pPr>
            <a:r>
              <a:rPr lang="ru-RU" sz="3400" b="0" kern="1200" dirty="0" smtClean="0">
                <a:solidFill>
                  <a:srgbClr val="E60028"/>
                </a:solidFill>
                <a:latin typeface="Arial" charset="0"/>
              </a:rPr>
              <a:t>ОБСЛУЖИВАНИЕ</a:t>
            </a:r>
            <a:r>
              <a:rPr lang="ru-RU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BatangChe" panose="02030609000101010101" pitchFamily="49" charset="-127"/>
                <a:cs typeface="Times New Roman" panose="02020603050405020304" pitchFamily="18" charset="0"/>
              </a:rPr>
              <a:t> </a:t>
            </a:r>
            <a:r>
              <a:rPr lang="ru-RU" sz="3400" b="0" kern="1200" dirty="0" smtClean="0">
                <a:solidFill>
                  <a:srgbClr val="E60028"/>
                </a:solidFill>
                <a:latin typeface="Arial" charset="0"/>
              </a:rPr>
              <a:t>КЛИЕНТОВ КАТЕГОРИИ РЕР</a:t>
            </a:r>
            <a:endParaRPr lang="en-US" sz="3400" b="0" kern="1200" dirty="0">
              <a:solidFill>
                <a:srgbClr val="E60028"/>
              </a:solidFill>
              <a:latin typeface="Arial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gray">
          <a:xfrm>
            <a:off x="4694238" y="392113"/>
            <a:ext cx="152558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l" eaLnBrk="0" hangingPunct="0">
              <a:spcBef>
                <a:spcPct val="60000"/>
              </a:spcBef>
              <a:buClr>
                <a:schemeClr val="bg2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60000"/>
              </a:spcBef>
              <a:buChar char="•"/>
              <a:defRPr sz="13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Wingdings" pitchFamily="2" charset="2"/>
              <a:buChar char="ü"/>
              <a:defRPr sz="13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1100" dirty="0" smtClean="0">
                <a:solidFill>
                  <a:srgbClr val="E60028"/>
                </a:solidFill>
              </a:rPr>
              <a:t>ЯНВАРЬ 2018</a:t>
            </a:r>
            <a:endParaRPr lang="ru-RU" altLang="ru-RU" sz="1100" dirty="0">
              <a:solidFill>
                <a:srgbClr val="E60028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gray">
          <a:xfrm>
            <a:off x="2915816" y="392113"/>
            <a:ext cx="152558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l" eaLnBrk="0" hangingPunct="0">
              <a:spcBef>
                <a:spcPct val="60000"/>
              </a:spcBef>
              <a:buClr>
                <a:schemeClr val="bg2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spcBef>
                <a:spcPct val="60000"/>
              </a:spcBef>
              <a:buChar char="•"/>
              <a:defRPr sz="13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Wingdings" pitchFamily="2" charset="2"/>
              <a:buChar char="ü"/>
              <a:defRPr sz="13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1100" dirty="0" smtClean="0">
                <a:solidFill>
                  <a:srgbClr val="E60028"/>
                </a:solidFill>
              </a:rPr>
              <a:t>C2</a:t>
            </a:r>
            <a:endParaRPr lang="ru-RU" altLang="ru-RU" sz="1100" dirty="0">
              <a:solidFill>
                <a:srgbClr val="E60028"/>
              </a:solidFill>
            </a:endParaRPr>
          </a:p>
        </p:txBody>
      </p:sp>
      <p:sp>
        <p:nvSpPr>
          <p:cNvPr id="7" name="Line 15"/>
          <p:cNvSpPr>
            <a:spLocks noChangeShapeType="1"/>
          </p:cNvSpPr>
          <p:nvPr/>
        </p:nvSpPr>
        <p:spPr bwMode="gray">
          <a:xfrm flipV="1">
            <a:off x="4572000" y="259879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251520" y="1255792"/>
            <a:ext cx="8568952" cy="2101200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59313" y="1052736"/>
            <a:ext cx="3528392" cy="406113"/>
          </a:xfrm>
          <a:prstGeom prst="rect">
            <a:avLst/>
          </a:prstGeom>
          <a:solidFill>
            <a:srgbClr val="E9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704"/>
            <a:ext cx="8352000" cy="576000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ПУБЛИЧНОЕ</a:t>
            </a:r>
            <a:r>
              <a:rPr lang="ru-RU" sz="2000" b="1" dirty="0" smtClean="0">
                <a:latin typeface="+mn-lt"/>
              </a:rPr>
              <a:t> </a:t>
            </a:r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ДОЛЖНОСТНОЕ ЛИЦО (РЕР)</a:t>
            </a:r>
            <a:endParaRPr lang="ru-RU" sz="1600" b="1" dirty="0">
              <a:solidFill>
                <a:srgbClr val="E60028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789040"/>
            <a:ext cx="8029575" cy="2448272"/>
          </a:xfrm>
        </p:spPr>
        <p:txBody>
          <a:bodyPr/>
          <a:lstStyle/>
          <a:p>
            <a:pPr marL="0" indent="0">
              <a:buNone/>
            </a:pPr>
            <a:r>
              <a:rPr lang="ru-RU" sz="1600" dirty="0" smtClean="0"/>
              <a:t>В Росбанке выделяет следующие типы клиентов категории РЕР:</a:t>
            </a:r>
          </a:p>
          <a:p>
            <a:pPr marL="0" indent="0">
              <a:buNone/>
            </a:pPr>
            <a:endParaRPr lang="ru-RU" dirty="0" smtClean="0"/>
          </a:p>
          <a:p>
            <a:pPr lvl="0">
              <a:buClr>
                <a:srgbClr val="E95353"/>
              </a:buClr>
              <a:buFont typeface="Arial" panose="020B0604020202020204" pitchFamily="34" charset="0"/>
              <a:buChar char="•"/>
            </a:pPr>
            <a:r>
              <a:rPr lang="ru-RU" sz="1600" b="0" dirty="0"/>
              <a:t>Влиятельная публичная персона (РЕР/ВПП</a:t>
            </a:r>
            <a:r>
              <a:rPr lang="ru-RU" sz="1600" b="0" dirty="0" smtClean="0"/>
              <a:t>)</a:t>
            </a:r>
            <a:endParaRPr lang="ru-RU" sz="1600" b="0" dirty="0"/>
          </a:p>
          <a:p>
            <a:pPr>
              <a:buClr>
                <a:srgbClr val="E95353"/>
              </a:buClr>
              <a:buFont typeface="Arial" panose="020B0604020202020204" pitchFamily="34" charset="0"/>
              <a:buChar char="•"/>
            </a:pPr>
            <a:r>
              <a:rPr lang="ru-RU" sz="1600" b="0" dirty="0"/>
              <a:t>Родственник </a:t>
            </a:r>
            <a:r>
              <a:rPr lang="ru-RU" sz="1600" b="0" dirty="0" smtClean="0"/>
              <a:t>РЕР/ВПП</a:t>
            </a:r>
            <a:endParaRPr lang="ru-RU" sz="1600" b="0" dirty="0"/>
          </a:p>
          <a:p>
            <a:pPr lvl="0">
              <a:buClr>
                <a:srgbClr val="E95353"/>
              </a:buClr>
              <a:buFont typeface="Arial" panose="020B0604020202020204" pitchFamily="34" charset="0"/>
              <a:buChar char="•"/>
            </a:pPr>
            <a:r>
              <a:rPr lang="ru-RU" sz="1600" b="0" dirty="0" smtClean="0"/>
              <a:t>Связанное с </a:t>
            </a:r>
            <a:r>
              <a:rPr lang="ru-RU" sz="1600" b="0" dirty="0"/>
              <a:t>РЕР/ВПП </a:t>
            </a:r>
            <a:r>
              <a:rPr lang="ru-RU" sz="1600" b="0" dirty="0" smtClean="0"/>
              <a:t>лицо</a:t>
            </a:r>
            <a:endParaRPr lang="ru-RU" sz="1600" b="0" dirty="0"/>
          </a:p>
          <a:p>
            <a:pPr lvl="0"/>
            <a:endParaRPr lang="ru-RU" sz="1600" b="0" dirty="0"/>
          </a:p>
          <a:p>
            <a:pPr marL="0" lvl="0" indent="0">
              <a:buNone/>
            </a:pPr>
            <a:r>
              <a:rPr lang="ru-RU" sz="1600" b="0" dirty="0" smtClean="0"/>
              <a:t>Подробный перечень должностей РЕР указан в </a:t>
            </a:r>
            <a:r>
              <a:rPr lang="en-US" sz="1600" dirty="0" err="1" smtClean="0"/>
              <a:t>Rosbank</a:t>
            </a:r>
            <a:r>
              <a:rPr lang="en-US" sz="1600" dirty="0" smtClean="0"/>
              <a:t> PEP list. </a:t>
            </a:r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460000" y="6418800"/>
            <a:ext cx="360000" cy="442800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843808" y="6237312"/>
            <a:ext cx="3597275" cy="369317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</a:t>
            </a:r>
            <a:r>
              <a:rPr lang="ru-RU" dirty="0" smtClean="0"/>
              <a:t>2</a:t>
            </a:r>
            <a:r>
              <a:rPr lang="fr-FR" dirty="0" smtClean="0"/>
              <a:t> – </a:t>
            </a:r>
            <a:r>
              <a:rPr lang="en-US" dirty="0" smtClean="0"/>
              <a:t>For internal use only</a:t>
            </a:r>
            <a:endParaRPr lang="fr-FR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643737"/>
              </p:ext>
            </p:extLst>
          </p:nvPr>
        </p:nvGraphicFramePr>
        <p:xfrm>
          <a:off x="6948264" y="5013176"/>
          <a:ext cx="1033264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0" name="Acrobat Document" showAsIcon="1" r:id="rId4" imgW="914400" imgH="771480" progId="AcroExch.Document.11">
                  <p:embed/>
                </p:oleObj>
              </mc:Choice>
              <mc:Fallback>
                <p:oleObj name="Acrobat Document" showAsIcon="1" r:id="rId4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48264" y="5013176"/>
                        <a:ext cx="1033264" cy="7715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 bwMode="gray">
          <a:xfrm>
            <a:off x="466642" y="1124744"/>
            <a:ext cx="8353830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ru-RU" sz="1600" kern="0" dirty="0" err="1" smtClean="0">
                <a:solidFill>
                  <a:schemeClr val="bg1"/>
                </a:solidFill>
              </a:rPr>
              <a:t>Politically</a:t>
            </a:r>
            <a:r>
              <a:rPr lang="ru-RU" sz="1600" kern="0" dirty="0" smtClean="0">
                <a:solidFill>
                  <a:schemeClr val="bg1"/>
                </a:solidFill>
              </a:rPr>
              <a:t> </a:t>
            </a:r>
            <a:r>
              <a:rPr lang="ru-RU" sz="1600" kern="0" dirty="0" err="1" smtClean="0">
                <a:solidFill>
                  <a:schemeClr val="bg1"/>
                </a:solidFill>
              </a:rPr>
              <a:t>Exposed</a:t>
            </a:r>
            <a:r>
              <a:rPr lang="ru-RU" sz="1600" kern="0" dirty="0" smtClean="0">
                <a:solidFill>
                  <a:schemeClr val="bg1"/>
                </a:solidFill>
              </a:rPr>
              <a:t> </a:t>
            </a:r>
            <a:r>
              <a:rPr lang="ru-RU" sz="1600" kern="0" dirty="0" err="1" smtClean="0">
                <a:solidFill>
                  <a:schemeClr val="bg1"/>
                </a:solidFill>
              </a:rPr>
              <a:t>Person</a:t>
            </a:r>
            <a:r>
              <a:rPr lang="ru-RU" sz="1600" kern="0" dirty="0" smtClean="0">
                <a:solidFill>
                  <a:schemeClr val="bg1"/>
                </a:solidFill>
              </a:rPr>
              <a:t> (PEP) -</a:t>
            </a:r>
            <a:endParaRPr lang="ru-RU" sz="1600" kern="0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95536" y="1484784"/>
            <a:ext cx="83529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влиятельные публичные персоны (ВПП) - </a:t>
            </a:r>
            <a:r>
              <a:rPr lang="ru-RU" sz="1600" dirty="0" smtClean="0">
                <a:latin typeface="+mn-lt"/>
              </a:rPr>
              <a:t>лица</a:t>
            </a:r>
            <a:r>
              <a:rPr lang="ru-RU" sz="1600" dirty="0">
                <a:latin typeface="+mn-lt"/>
              </a:rPr>
              <a:t>, которые занимали ранее или занимают на данный момент высшие государственные </a:t>
            </a:r>
            <a:r>
              <a:rPr lang="ru-RU" sz="1600" dirty="0" smtClean="0">
                <a:latin typeface="+mn-lt"/>
              </a:rPr>
              <a:t>должности, такие </a:t>
            </a:r>
            <a:r>
              <a:rPr lang="ru-RU" sz="1600" dirty="0">
                <a:latin typeface="+mn-lt"/>
              </a:rPr>
              <a:t>как </a:t>
            </a:r>
            <a:r>
              <a:rPr lang="ru-RU" sz="1600" dirty="0" smtClean="0">
                <a:latin typeface="+mn-lt"/>
              </a:rPr>
              <a:t>главы </a:t>
            </a:r>
            <a:r>
              <a:rPr lang="ru-RU" sz="1600" dirty="0">
                <a:latin typeface="+mn-lt"/>
              </a:rPr>
              <a:t>государств или правительств, влиятельные  политические деятели, высокопоставленные государственные чиновники, общественные, судебные или военные должностные лица, высшие руководители государственных корпораций и основных политических партий, а также члены семей таких лиц или лица, явно связанные с ними.</a:t>
            </a:r>
          </a:p>
        </p:txBody>
      </p:sp>
    </p:spTree>
    <p:extLst>
      <p:ext uri="{BB962C8B-B14F-4D97-AF65-F5344CB8AC3E}">
        <p14:creationId xmlns:p14="http://schemas.microsoft.com/office/powerpoint/2010/main" val="3038003430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1595057321"/>
              </p:ext>
            </p:extLst>
          </p:nvPr>
        </p:nvGraphicFramePr>
        <p:xfrm>
          <a:off x="611560" y="1813272"/>
          <a:ext cx="8064895" cy="4352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1189" y="260648"/>
            <a:ext cx="8407275" cy="428055"/>
          </a:xfrm>
        </p:spPr>
        <p:txBody>
          <a:bodyPr/>
          <a:lstStyle/>
          <a:p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РОДСТВЕННИКИ РЕР</a:t>
            </a:r>
            <a:r>
              <a:rPr lang="en-US" sz="1600" b="1" dirty="0" smtClean="0">
                <a:solidFill>
                  <a:srgbClr val="E60028"/>
                </a:solidFill>
                <a:latin typeface="+mn-lt"/>
              </a:rPr>
              <a:t> </a:t>
            </a:r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/ ЛИЦА, СВЯЗАННЫЕ С РЕР</a:t>
            </a:r>
            <a:endParaRPr lang="en-US" sz="1600" b="1" dirty="0">
              <a:solidFill>
                <a:srgbClr val="E60028"/>
              </a:solidFill>
              <a:latin typeface="+mn-lt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xfrm>
            <a:off x="8459788" y="6418800"/>
            <a:ext cx="360362" cy="441325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10" name="Espace réservé du pied de page 5"/>
          <p:cNvSpPr>
            <a:spLocks noGrp="1"/>
          </p:cNvSpPr>
          <p:nvPr>
            <p:ph type="ftr" sz="quarter" idx="12"/>
          </p:nvPr>
        </p:nvSpPr>
        <p:spPr>
          <a:xfrm>
            <a:off x="2699792" y="6407869"/>
            <a:ext cx="3597275" cy="441325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C2 – </a:t>
            </a:r>
            <a:r>
              <a:rPr lang="en-US" dirty="0" smtClean="0"/>
              <a:t>For internal use only</a:t>
            </a:r>
            <a:endParaRPr lang="fr-FR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855999"/>
            <a:ext cx="1400175" cy="82724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855999"/>
            <a:ext cx="932688" cy="932688"/>
          </a:xfrm>
          <a:prstGeom prst="rect">
            <a:avLst/>
          </a:prstGeom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ТРЕБОВАНИЯ К ОБСЛУЖИВАНИЮ КЛИЕНТОВ РЕР</a:t>
            </a:r>
            <a:endParaRPr lang="ru-RU" sz="1600" b="1" dirty="0">
              <a:solidFill>
                <a:srgbClr val="E60028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701354" y="6525344"/>
            <a:ext cx="3597275" cy="441325"/>
          </a:xfrm>
        </p:spPr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51520" y="1255792"/>
            <a:ext cx="8568952" cy="13091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59313" y="1052736"/>
            <a:ext cx="4644736" cy="4061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gray">
          <a:xfrm>
            <a:off x="466642" y="1124744"/>
            <a:ext cx="8353830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ru-RU" sz="1600" kern="0" dirty="0">
                <a:solidFill>
                  <a:schemeClr val="bg1"/>
                </a:solidFill>
              </a:rPr>
              <a:t>Основной принцип взаимодействия </a:t>
            </a:r>
            <a:r>
              <a:rPr lang="en-US" sz="1600" kern="0" dirty="0" smtClean="0">
                <a:solidFill>
                  <a:schemeClr val="bg1"/>
                </a:solidFill>
              </a:rPr>
              <a:t>c </a:t>
            </a:r>
            <a:r>
              <a:rPr lang="ru-RU" sz="1600" kern="0" dirty="0" smtClean="0">
                <a:solidFill>
                  <a:schemeClr val="bg1"/>
                </a:solidFill>
              </a:rPr>
              <a:t>PEP</a:t>
            </a:r>
            <a:r>
              <a:rPr lang="ru-RU" sz="1600" kern="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61360" y="1556792"/>
            <a:ext cx="83150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/>
              <a:t>применять в отношении клиентов категории РЕР сдержанный бизнес подход, избегая активных продаж, чтобы </a:t>
            </a:r>
            <a:r>
              <a:rPr lang="en-US" sz="1600" dirty="0" err="1"/>
              <a:t>не</a:t>
            </a:r>
            <a:r>
              <a:rPr lang="en-US" sz="1600" dirty="0"/>
              <a:t> </a:t>
            </a:r>
            <a:r>
              <a:rPr lang="en-US" sz="1600" dirty="0" err="1"/>
              <a:t>стать</a:t>
            </a:r>
            <a:r>
              <a:rPr lang="en-US" sz="1600" dirty="0"/>
              <a:t>  </a:t>
            </a:r>
            <a:r>
              <a:rPr lang="ru-RU" sz="1600" dirty="0"/>
              <a:t>базовым</a:t>
            </a:r>
            <a:r>
              <a:rPr lang="en-US" sz="1600" dirty="0"/>
              <a:t> </a:t>
            </a:r>
            <a:r>
              <a:rPr lang="en-US" sz="1600" dirty="0" err="1"/>
              <a:t>банком</a:t>
            </a:r>
            <a:r>
              <a:rPr lang="en-US" sz="1600" dirty="0"/>
              <a:t> </a:t>
            </a:r>
            <a:r>
              <a:rPr lang="ru-RU" sz="1600" dirty="0"/>
              <a:t>для</a:t>
            </a:r>
            <a:r>
              <a:rPr lang="en-US" sz="1600" dirty="0"/>
              <a:t> </a:t>
            </a:r>
            <a:r>
              <a:rPr lang="en-US" sz="1600" dirty="0" err="1"/>
              <a:t>обслуживани</a:t>
            </a:r>
            <a:r>
              <a:rPr lang="ru-RU" sz="1600" dirty="0"/>
              <a:t>я</a:t>
            </a:r>
            <a:r>
              <a:rPr lang="en-US" sz="1600" dirty="0"/>
              <a:t> </a:t>
            </a:r>
            <a:r>
              <a:rPr lang="en-US" sz="1600" dirty="0" err="1"/>
              <a:t>клиентов</a:t>
            </a:r>
            <a:r>
              <a:rPr lang="en-US" sz="1600" dirty="0"/>
              <a:t> </a:t>
            </a:r>
            <a:r>
              <a:rPr lang="ru-RU" sz="1600" dirty="0"/>
              <a:t>категории </a:t>
            </a:r>
            <a:r>
              <a:rPr lang="en-US" sz="1600" dirty="0"/>
              <a:t>РЕР.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51520" y="2911976"/>
            <a:ext cx="8568952" cy="1378218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59313" y="2708920"/>
            <a:ext cx="4644736" cy="406113"/>
          </a:xfrm>
          <a:prstGeom prst="rect">
            <a:avLst/>
          </a:prstGeom>
          <a:solidFill>
            <a:srgbClr val="E9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gray">
          <a:xfrm>
            <a:off x="466642" y="2780928"/>
            <a:ext cx="4537407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>
                <a:solidFill>
                  <a:schemeClr val="bg1"/>
                </a:solidFill>
              </a:rPr>
              <a:t>Задача клиентского менеджера: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361360" y="3212976"/>
            <a:ext cx="83150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изучить профиль клиента как можно детальнее, с целью исключить риск вовлечения банка в проведение сомнительных операций по счетам клиента категории РЕР.</a:t>
            </a:r>
          </a:p>
          <a:p>
            <a:pPr lvl="0"/>
            <a:r>
              <a:rPr lang="ru-RU" sz="1600" dirty="0"/>
              <a:t>Чем лучше менеджер знает клиента – тем быстрее сможет выявить несоответствия между уровнем благосостояния клиента и его активностью.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51519" y="4640168"/>
            <a:ext cx="8568952" cy="16691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359312" y="4437112"/>
            <a:ext cx="4644736" cy="4061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 bwMode="gray">
          <a:xfrm>
            <a:off x="466641" y="4509120"/>
            <a:ext cx="4537407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>
                <a:solidFill>
                  <a:schemeClr val="bg1"/>
                </a:solidFill>
              </a:rPr>
              <a:t>Клиенты категории </a:t>
            </a:r>
            <a:r>
              <a:rPr lang="ru-RU" sz="1600" kern="0" dirty="0" smtClean="0">
                <a:solidFill>
                  <a:schemeClr val="bg1"/>
                </a:solidFill>
              </a:rPr>
              <a:t>РЕР - это: </a:t>
            </a:r>
            <a:endParaRPr lang="ru-RU" sz="1600" kern="0" dirty="0">
              <a:solidFill>
                <a:schemeClr val="bg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359313" y="4759985"/>
            <a:ext cx="846116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лица </a:t>
            </a:r>
            <a:r>
              <a:rPr lang="ru-RU" sz="1600" dirty="0"/>
              <a:t>с высоким уровнем дохода, обладающие весомыми активами и бизнес </a:t>
            </a:r>
            <a:r>
              <a:rPr lang="ru-RU" sz="1600" dirty="0" smtClean="0"/>
              <a:t>связями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клиенты </a:t>
            </a:r>
            <a:r>
              <a:rPr lang="ru-RU" sz="1600" dirty="0"/>
              <a:t>высокого уровня </a:t>
            </a:r>
            <a:r>
              <a:rPr lang="ru-RU" sz="1600" dirty="0" smtClean="0"/>
              <a:t>риска.</a:t>
            </a:r>
          </a:p>
          <a:p>
            <a:r>
              <a:rPr lang="ru-RU" sz="1600" dirty="0" smtClean="0"/>
              <a:t>Банк </a:t>
            </a:r>
            <a:r>
              <a:rPr lang="ru-RU" sz="1600" dirty="0"/>
              <a:t>должен принимать во внимание  потенциальные </a:t>
            </a:r>
            <a:r>
              <a:rPr lang="ru-RU" sz="1600" dirty="0" err="1"/>
              <a:t>санкционные</a:t>
            </a:r>
            <a:r>
              <a:rPr lang="ru-RU" sz="1600" dirty="0"/>
              <a:t> и </a:t>
            </a:r>
            <a:r>
              <a:rPr lang="ru-RU" sz="1600" dirty="0" err="1"/>
              <a:t>репутационные</a:t>
            </a:r>
            <a:r>
              <a:rPr lang="ru-RU" sz="1600" dirty="0"/>
              <a:t> риски, а также риск отмывания денежных </a:t>
            </a:r>
            <a:r>
              <a:rPr lang="ru-RU" sz="1600" dirty="0" smtClean="0"/>
              <a:t>средств </a:t>
            </a:r>
            <a:r>
              <a:rPr lang="ru-RU" sz="1600" dirty="0"/>
              <a:t>при установлении деловых отношений с клиентами категории РЕР.</a:t>
            </a:r>
          </a:p>
          <a:p>
            <a:endParaRPr lang="ru-RU" sz="1600" i="1" dirty="0"/>
          </a:p>
          <a:p>
            <a:pPr lvl="0"/>
            <a:r>
              <a:rPr lang="ru-RU" sz="1600" dirty="0"/>
              <a:t> </a:t>
            </a:r>
            <a:endParaRPr lang="ru-RU" sz="1600" i="1" dirty="0"/>
          </a:p>
          <a:p>
            <a:r>
              <a:rPr lang="ru-RU" sz="1600" i="1" dirty="0"/>
              <a:t> </a:t>
            </a:r>
          </a:p>
          <a:p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3193239151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ТРЕБОВАНИЯ</a:t>
            </a:r>
            <a:r>
              <a:rPr lang="ru-RU" sz="2000" b="1" dirty="0" smtClean="0"/>
              <a:t> </a:t>
            </a:r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К ОБСЛУЖИВАНИЮ КЛИЕНТОВ РЕР</a:t>
            </a:r>
            <a:endParaRPr lang="ru-RU" sz="1600" b="1" dirty="0">
              <a:solidFill>
                <a:srgbClr val="E60028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16609"/>
            <a:ext cx="8352928" cy="2304479"/>
          </a:xfrm>
        </p:spPr>
        <p:txBody>
          <a:bodyPr/>
          <a:lstStyle/>
          <a:p>
            <a:pPr>
              <a:buClr>
                <a:srgbClr val="922323"/>
              </a:buClr>
              <a:buFont typeface="Arial" panose="020B0604020202020204" pitchFamily="34" charset="0"/>
              <a:buChar char="•"/>
            </a:pPr>
            <a:r>
              <a:rPr lang="ru-RU" sz="1600" b="0" dirty="0" smtClean="0"/>
              <a:t>Перевод </a:t>
            </a:r>
            <a:r>
              <a:rPr lang="ru-RU" sz="1600" b="0" dirty="0"/>
              <a:t>действующих клиентов в специализированные ДО осуществляется в рамках ежегодного обновления сведений о клиенте.</a:t>
            </a:r>
          </a:p>
          <a:p>
            <a:pPr>
              <a:buClr>
                <a:srgbClr val="922323"/>
              </a:buClr>
              <a:buFont typeface="Arial" panose="020B0604020202020204" pitchFamily="34" charset="0"/>
              <a:buChar char="•"/>
            </a:pPr>
            <a:r>
              <a:rPr lang="ru-RU" sz="1600" b="0" dirty="0" smtClean="0"/>
              <a:t>Если </a:t>
            </a:r>
            <a:r>
              <a:rPr lang="ru-RU" sz="1600" b="0" dirty="0"/>
              <a:t>клиент отказывается от перевода в специализированный ДО. Управляющий ДО направляет в ДФМ аргументированное заключение на согласование дополнительного специализированного ДО.  В случае согласования - клиент закрепляется за управляющим </a:t>
            </a:r>
            <a:r>
              <a:rPr lang="ru-RU" sz="1600" b="0" dirty="0" smtClean="0"/>
              <a:t>офисом.</a:t>
            </a:r>
          </a:p>
          <a:p>
            <a:pPr>
              <a:buClr>
                <a:srgbClr val="922323"/>
              </a:buClr>
              <a:buFont typeface="Arial" panose="020B0604020202020204" pitchFamily="34" charset="0"/>
              <a:buChar char="•"/>
            </a:pPr>
            <a:r>
              <a:rPr lang="ru-RU" sz="1600" b="0" dirty="0" smtClean="0"/>
              <a:t>Клиент РЕР закрепляется за специализированным офисом и менеджером, прошедшим </a:t>
            </a:r>
            <a:r>
              <a:rPr lang="ru-RU" sz="1600" b="0" dirty="0"/>
              <a:t>обучение  </a:t>
            </a:r>
            <a:r>
              <a:rPr lang="ru-RU" sz="1600" b="0" dirty="0" smtClean="0"/>
              <a:t>по </a:t>
            </a:r>
            <a:r>
              <a:rPr lang="ru-RU" sz="1600" b="0" dirty="0"/>
              <a:t>работе с данной категорией клиентов</a:t>
            </a:r>
            <a:r>
              <a:rPr lang="ru-RU" sz="1600" b="0" dirty="0" smtClean="0"/>
              <a:t>.</a:t>
            </a:r>
          </a:p>
          <a:p>
            <a:pPr marL="0" indent="0">
              <a:buNone/>
            </a:pPr>
            <a:endParaRPr lang="ru-RU" sz="12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2" y="692696"/>
            <a:ext cx="1333500" cy="13335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43608" y="1340768"/>
            <a:ext cx="7776864" cy="504056"/>
          </a:xfrm>
          <a:prstGeom prst="rect">
            <a:avLst/>
          </a:prstGeom>
          <a:solidFill>
            <a:srgbClr val="2A404A"/>
          </a:solidFill>
          <a:ln>
            <a:solidFill>
              <a:srgbClr val="2A40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gray">
          <a:xfrm>
            <a:off x="1043608" y="1510719"/>
            <a:ext cx="7741311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ru-RU" sz="1500" kern="0" dirty="0">
                <a:solidFill>
                  <a:schemeClr val="bg1"/>
                </a:solidFill>
              </a:rPr>
              <a:t>Клиенты категории РЕР могут обсуживаться только в специализированных ДО: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gray">
          <a:xfrm>
            <a:off x="376616" y="4293096"/>
            <a:ext cx="835292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ru-RU" i="1" u="sng" kern="0" dirty="0" smtClean="0">
              <a:solidFill>
                <a:srgbClr val="FF0000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ru-RU" sz="1600" b="0" kern="0" dirty="0" smtClean="0"/>
              <a:t>Управляющий специализированным офисом должен обеспечить наличие </a:t>
            </a:r>
            <a:r>
              <a:rPr lang="ru-RU" sz="2000" b="0" kern="0" dirty="0" smtClean="0">
                <a:solidFill>
                  <a:srgbClr val="C00000"/>
                </a:solidFill>
              </a:rPr>
              <a:t>двух</a:t>
            </a:r>
            <a:r>
              <a:rPr lang="ru-RU" sz="2000" b="0" kern="0" dirty="0" smtClean="0"/>
              <a:t>  </a:t>
            </a:r>
            <a:r>
              <a:rPr lang="ru-RU" sz="2000" b="0" kern="0" dirty="0">
                <a:solidFill>
                  <a:srgbClr val="C00000"/>
                </a:solidFill>
              </a:rPr>
              <a:t>специализированных клиентских менеджеров</a:t>
            </a:r>
            <a:r>
              <a:rPr lang="ru-RU" sz="1600" b="0" kern="0" dirty="0" smtClean="0"/>
              <a:t>, прошедших обучение и уполномоченных обслуживать клиентов категории РЕР. </a:t>
            </a:r>
          </a:p>
          <a:p>
            <a:pPr marL="0" indent="0">
              <a:buFont typeface="Wingdings" pitchFamily="2" charset="2"/>
              <a:buNone/>
            </a:pPr>
            <a:r>
              <a:rPr lang="ru-RU" sz="1600" b="0" kern="0" dirty="0" smtClean="0"/>
              <a:t>Менеджеры, не прошедшие обучение к работе с клиентами категории РЕР не допускаются.</a:t>
            </a:r>
          </a:p>
          <a:p>
            <a:pPr marL="0" indent="0">
              <a:buFont typeface="Wingdings" pitchFamily="2" charset="2"/>
              <a:buNone/>
            </a:pPr>
            <a:endParaRPr lang="ru-RU" kern="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51520" y="4352136"/>
            <a:ext cx="8568952" cy="18851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59313" y="4149080"/>
            <a:ext cx="3528392" cy="4061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gray">
          <a:xfrm>
            <a:off x="466642" y="4221088"/>
            <a:ext cx="3421063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 smtClean="0">
                <a:solidFill>
                  <a:schemeClr val="bg1"/>
                </a:solidFill>
              </a:rPr>
              <a:t>ВАЖНО</a:t>
            </a:r>
            <a:endParaRPr lang="ru-RU" sz="1600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363615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Arrow 10"/>
          <p:cNvSpPr/>
          <p:nvPr/>
        </p:nvSpPr>
        <p:spPr>
          <a:xfrm>
            <a:off x="2699792" y="5021430"/>
            <a:ext cx="720080" cy="484632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ight Arrow 11"/>
          <p:cNvSpPr/>
          <p:nvPr/>
        </p:nvSpPr>
        <p:spPr>
          <a:xfrm rot="10800000">
            <a:off x="5652120" y="5020767"/>
            <a:ext cx="720080" cy="484632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ТРЕБОВАНИЯ</a:t>
            </a:r>
            <a:r>
              <a:rPr lang="ru-RU" b="1" dirty="0" smtClean="0"/>
              <a:t> </a:t>
            </a:r>
            <a:r>
              <a:rPr lang="ru-RU" sz="1600" b="1" dirty="0" smtClean="0">
                <a:solidFill>
                  <a:srgbClr val="E60028"/>
                </a:solidFill>
                <a:latin typeface="+mn-lt"/>
              </a:rPr>
              <a:t>К ОБСЛУЖИВАНИЮ КЛИЕНТОВ РЕР</a:t>
            </a:r>
            <a:endParaRPr lang="ru-RU" sz="1600" b="1" dirty="0">
              <a:solidFill>
                <a:srgbClr val="E60028"/>
              </a:solidFill>
              <a:latin typeface="+mn-lt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095859"/>
              </p:ext>
            </p:extLst>
          </p:nvPr>
        </p:nvGraphicFramePr>
        <p:xfrm>
          <a:off x="557213" y="1052513"/>
          <a:ext cx="8029575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713875" y="6416675"/>
            <a:ext cx="3597275" cy="441325"/>
          </a:xfrm>
        </p:spPr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899592" y="4941168"/>
            <a:ext cx="1944216" cy="64807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Высокий уровень </a:t>
            </a:r>
            <a:r>
              <a:rPr lang="ru-RU" sz="1600" dirty="0" smtClean="0"/>
              <a:t>риска БИС/</a:t>
            </a:r>
            <a:r>
              <a:rPr lang="en-US" sz="1600" dirty="0" smtClean="0"/>
              <a:t>CRM</a:t>
            </a:r>
            <a:endParaRPr lang="ru-RU" sz="1600" dirty="0"/>
          </a:p>
        </p:txBody>
      </p:sp>
      <p:sp>
        <p:nvSpPr>
          <p:cNvPr id="10" name="Rectangle 9"/>
          <p:cNvSpPr/>
          <p:nvPr/>
        </p:nvSpPr>
        <p:spPr>
          <a:xfrm>
            <a:off x="6300192" y="4941168"/>
            <a:ext cx="2088232" cy="64807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Отметка </a:t>
            </a:r>
            <a:r>
              <a:rPr lang="ru-RU" sz="1600" dirty="0"/>
              <a:t>РЕР </a:t>
            </a:r>
            <a:r>
              <a:rPr lang="ru-RU" sz="1600" dirty="0" smtClean="0"/>
              <a:t>в ПО банка БИС/</a:t>
            </a:r>
            <a:r>
              <a:rPr lang="en-US" sz="1600" dirty="0" smtClean="0"/>
              <a:t>CRM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723325486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КОНФИДЕНЦИАЛЬНОСТЬ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ДОСЬЕ КЛИЕНТА РЕР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  <a:p>
            <a:pPr>
              <a:defRPr/>
            </a:pP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39875"/>
            <a:ext cx="4392488" cy="4897437"/>
          </a:xfrm>
        </p:spPr>
        <p:txBody>
          <a:bodyPr/>
          <a:lstStyle/>
          <a:p>
            <a:pPr marL="0" indent="0">
              <a:buNone/>
            </a:pPr>
            <a:r>
              <a:rPr lang="ru-RU" sz="1600" b="0" dirty="0" smtClean="0"/>
              <a:t>Досье клиента категории РЕР является строго конфиденциальной информацией.  Доступ к досье клиента РЕР должен быть ограничен.</a:t>
            </a:r>
          </a:p>
          <a:p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1600" b="0" dirty="0" smtClean="0"/>
          </a:p>
          <a:p>
            <a:pPr marL="0" indent="0">
              <a:buNone/>
            </a:pPr>
            <a:r>
              <a:rPr lang="ru-RU" sz="1600" b="0" dirty="0" smtClean="0"/>
              <a:t>Сотрудники</a:t>
            </a:r>
            <a:r>
              <a:rPr lang="ru-RU" sz="1600" b="0" dirty="0"/>
              <a:t>, не прошедшие обучение и не являющиеся специализированными менеджерами по обслуживанию клиентов категории РЕР, не могут иметь доступ к досье клиента категории РЕР.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477244"/>
            <a:ext cx="3219450" cy="22479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788024" y="2302807"/>
            <a:ext cx="4032448" cy="2638361"/>
          </a:xfrm>
          <a:prstGeom prst="rect">
            <a:avLst/>
          </a:prstGeom>
          <a:solidFill>
            <a:srgbClr val="E9535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860032" y="2488828"/>
            <a:ext cx="3888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Доступ к досье клиента в специализированном ДО имеют:</a:t>
            </a:r>
          </a:p>
          <a:p>
            <a:endParaRPr lang="ru-RU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Менеджер клиента, прошедший </a:t>
            </a:r>
            <a:r>
              <a:rPr lang="ru-RU" sz="1600" dirty="0" smtClean="0">
                <a:solidFill>
                  <a:schemeClr val="bg1"/>
                </a:solidFill>
              </a:rPr>
              <a:t>обучение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chemeClr val="bg1"/>
                </a:solidFill>
              </a:rPr>
              <a:t>Второй </a:t>
            </a:r>
            <a:r>
              <a:rPr lang="ru-RU" sz="1600" dirty="0">
                <a:solidFill>
                  <a:schemeClr val="bg1"/>
                </a:solidFill>
              </a:rPr>
              <a:t>уполномоченный менеджер, прошедший </a:t>
            </a:r>
            <a:r>
              <a:rPr lang="ru-RU" sz="1600" dirty="0" smtClean="0">
                <a:solidFill>
                  <a:schemeClr val="bg1"/>
                </a:solidFill>
              </a:rPr>
              <a:t>обучение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chemeClr val="bg1"/>
                </a:solidFill>
              </a:rPr>
              <a:t>Управляющий </a:t>
            </a:r>
            <a:r>
              <a:rPr lang="ru-RU" sz="1600" dirty="0">
                <a:solidFill>
                  <a:schemeClr val="bg1"/>
                </a:solidFill>
              </a:rPr>
              <a:t>ДО</a:t>
            </a:r>
          </a:p>
          <a:p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63702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ВЫЯВЛЕНИЯ КЛИЕНТОВ КАТЕГОРИИ  РЕР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395536" y="4581128"/>
            <a:ext cx="8424936" cy="1656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ru-RU" sz="1400" b="1" dirty="0"/>
              <a:t>Присвоение статуса РЕР</a:t>
            </a:r>
            <a:r>
              <a:rPr lang="ru-RU" sz="1400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Статус РЕР должен быть подтвержден ДФМ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Если у менеджера возникли сомнения при идентификации клиента в качестве РЕР / менеджер не может идентифицировать совпадение в РЕР </a:t>
            </a:r>
            <a:r>
              <a:rPr lang="en-US" sz="1400" dirty="0"/>
              <a:t>online</a:t>
            </a:r>
            <a:r>
              <a:rPr lang="ru-RU" sz="1400" dirty="0"/>
              <a:t> (</a:t>
            </a:r>
            <a:r>
              <a:rPr lang="en-US" sz="1400" dirty="0"/>
              <a:t>OCR/</a:t>
            </a:r>
            <a:r>
              <a:rPr lang="en-US" sz="1400" dirty="0" err="1"/>
              <a:t>Vizir</a:t>
            </a:r>
            <a:r>
              <a:rPr lang="ru-RU" sz="1400" dirty="0"/>
              <a:t>)</a:t>
            </a:r>
            <a:r>
              <a:rPr lang="en-US" sz="1400" dirty="0"/>
              <a:t> </a:t>
            </a:r>
            <a:r>
              <a:rPr lang="ru-RU" sz="1400" dirty="0"/>
              <a:t> -  необходимо направить запрос на подтверждение статуса РЕР в Департамент Финансового Мониторинга </a:t>
            </a:r>
            <a:r>
              <a:rPr lang="ru-RU" sz="1400" dirty="0" smtClean="0"/>
              <a:t>(</a:t>
            </a:r>
            <a:r>
              <a:rPr lang="en-US" sz="1400" dirty="0"/>
              <a:t>KYCDKK@rosbank.ru</a:t>
            </a:r>
            <a:r>
              <a:rPr lang="ru-RU" sz="1400" dirty="0" smtClean="0"/>
              <a:t>/ </a:t>
            </a:r>
            <a:r>
              <a:rPr lang="ru-RU" sz="1400" dirty="0"/>
              <a:t>ДКК ЗСК/</a:t>
            </a:r>
            <a:r>
              <a:rPr lang="en-US" sz="1400" dirty="0"/>
              <a:t>BNK/RU</a:t>
            </a:r>
            <a:r>
              <a:rPr lang="ru-RU" sz="1400" dirty="0"/>
              <a:t>)</a:t>
            </a:r>
          </a:p>
          <a:p>
            <a:pPr marL="0" indent="0">
              <a:buNone/>
            </a:pPr>
            <a:endParaRPr lang="ru-RU" sz="1400" dirty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618192247"/>
              </p:ext>
            </p:extLst>
          </p:nvPr>
        </p:nvGraphicFramePr>
        <p:xfrm>
          <a:off x="323528" y="908720"/>
          <a:ext cx="8568952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7208860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648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ЭТАПЫ</a:t>
            </a:r>
            <a:r>
              <a:rPr lang="ru-RU" sz="2000" b="1" dirty="0" smtClean="0"/>
              <a:t>  </a:t>
            </a:r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ПРИЕМА НА ОБСЛУЖИВАНИЕ КЛИЕНТА КАТЕГОРИИ РЕР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029575" cy="4897437"/>
          </a:xfrm>
        </p:spPr>
        <p:txBody>
          <a:bodyPr/>
          <a:lstStyle/>
          <a:p>
            <a:pPr marL="0" indent="0">
              <a:buNone/>
            </a:pPr>
            <a:endParaRPr lang="ru-RU" b="0" dirty="0"/>
          </a:p>
          <a:p>
            <a:pPr marL="0" indent="0">
              <a:buNone/>
            </a:pPr>
            <a:endParaRPr lang="ru-RU" b="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78708060"/>
              </p:ext>
            </p:extLst>
          </p:nvPr>
        </p:nvGraphicFramePr>
        <p:xfrm>
          <a:off x="395536" y="1268760"/>
          <a:ext cx="842493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9385675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ПОДТВЕРЖДЕНИЕ ДОХОДА ДЛЯ КЛИЕНТА КАТЕГОРИИ РЕР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5776" y="2924944"/>
            <a:ext cx="7560840" cy="280831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 smtClean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ru-RU" sz="1600" b="0" dirty="0">
                <a:latin typeface="Arial" panose="020B0604020202020204" pitchFamily="34" charset="0"/>
                <a:cs typeface="Arial" panose="020B0604020202020204" pitchFamily="34" charset="0"/>
              </a:rPr>
              <a:t>НДФЛ (не старше 90 дней);   </a:t>
            </a:r>
            <a:endParaRPr lang="en-US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latin typeface="Arial" panose="020B0604020202020204" pitchFamily="34" charset="0"/>
                <a:cs typeface="Arial" panose="020B0604020202020204" pitchFamily="34" charset="0"/>
              </a:rPr>
              <a:t>3 НДФЛ / Налоговая декларация;   </a:t>
            </a:r>
            <a:endParaRPr lang="en-US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latin typeface="Arial" panose="020B0604020202020204" pitchFamily="34" charset="0"/>
                <a:cs typeface="Arial" panose="020B0604020202020204" pitchFamily="34" charset="0"/>
              </a:rPr>
              <a:t>Письмо на бланке компании с указанием дохода;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latin typeface="Arial" panose="020B0604020202020204" pitchFamily="34" charset="0"/>
                <a:cs typeface="Arial" panose="020B0604020202020204" pitchFamily="34" charset="0"/>
              </a:rPr>
              <a:t>Выписка со счета в другом банке (в выписке должны отражаться поступления от компании-работодателя);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latin typeface="Arial" panose="020B0604020202020204" pitchFamily="34" charset="0"/>
                <a:cs typeface="Arial" panose="020B0604020202020204" pitchFamily="34" charset="0"/>
              </a:rPr>
              <a:t>Решение общего собрания акционеров о выплате дивидендов;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latin typeface="Arial" panose="020B0604020202020204" pitchFamily="34" charset="0"/>
                <a:cs typeface="Arial" panose="020B0604020202020204" pitchFamily="34" charset="0"/>
              </a:rPr>
              <a:t>Информация из открытых источников ( сайт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Государственной Думы РФ / Forbes);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Иные документы  (при согласовании с ДФМ).</a:t>
            </a:r>
            <a:endParaRPr lang="ru-RU" sz="1600" b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2012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53" y="2895907"/>
            <a:ext cx="2382223" cy="269333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83568" y="3501008"/>
            <a:ext cx="792088" cy="43204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683568" y="3532946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DOC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gray">
          <a:xfrm>
            <a:off x="323528" y="1484784"/>
            <a:ext cx="8424936" cy="907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ru-RU" sz="1600" b="0" kern="0" dirty="0" smtClean="0"/>
              <a:t>Для всех клиентов категории РЕР </a:t>
            </a:r>
            <a:r>
              <a:rPr lang="ru-RU" sz="2000" kern="0" dirty="0" smtClean="0">
                <a:solidFill>
                  <a:srgbClr val="FF0000"/>
                </a:solidFill>
              </a:rPr>
              <a:t>обязательно</a:t>
            </a:r>
            <a:r>
              <a:rPr lang="ru-RU" sz="1600" b="0" kern="0" dirty="0" smtClean="0"/>
              <a:t> документарное подтверждении источника доходов: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i="1" kern="0" dirty="0" smtClean="0"/>
          </a:p>
        </p:txBody>
      </p:sp>
    </p:spTree>
    <p:extLst>
      <p:ext uri="{BB962C8B-B14F-4D97-AF65-F5344CB8AC3E}">
        <p14:creationId xmlns:p14="http://schemas.microsoft.com/office/powerpoint/2010/main" val="3820618038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188640"/>
            <a:ext cx="8190440" cy="5717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 СОГЛАСОВАНИЯ ПРИЕМА НА ОБСЛУЖИВАНИЕ КЛИЕНТА КАТЕГОРИИ РЕР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4" y="1052736"/>
            <a:ext cx="6897347" cy="1080120"/>
          </a:xfrm>
        </p:spPr>
        <p:txBody>
          <a:bodyPr/>
          <a:lstStyle/>
          <a:p>
            <a:pPr marL="0" indent="0">
              <a:buNone/>
            </a:pPr>
            <a:endParaRPr lang="ru-RU" sz="1600" b="0" dirty="0" smtClean="0"/>
          </a:p>
          <a:p>
            <a:pPr marL="0" indent="0" algn="ctr">
              <a:buNone/>
            </a:pPr>
            <a:r>
              <a:rPr lang="ru-RU" sz="1600" b="0" dirty="0" smtClean="0"/>
              <a:t>Принятие клиента категории РЕР на обслуживание возможно только при наличии всех согласований: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436191184"/>
              </p:ext>
            </p:extLst>
          </p:nvPr>
        </p:nvGraphicFramePr>
        <p:xfrm>
          <a:off x="827584" y="1988840"/>
          <a:ext cx="7488832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506772" y="5661248"/>
            <a:ext cx="40629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*</a:t>
            </a:r>
            <a:r>
              <a:rPr lang="ru-RU" sz="1400" dirty="0" smtClean="0"/>
              <a:t>В </a:t>
            </a:r>
            <a:r>
              <a:rPr lang="en-US" sz="1400" dirty="0" smtClean="0"/>
              <a:t>NRT</a:t>
            </a:r>
            <a:endParaRPr lang="ru-RU" sz="1400" dirty="0"/>
          </a:p>
          <a:p>
            <a:r>
              <a:rPr lang="ru-RU" sz="1400" dirty="0" smtClean="0"/>
              <a:t>**согласование получает ДФМ без участия ПС</a:t>
            </a:r>
            <a:endParaRPr lang="ru-RU" sz="1400" dirty="0"/>
          </a:p>
        </p:txBody>
      </p:sp>
      <p:pic>
        <p:nvPicPr>
          <p:cNvPr id="10" name="Picture 138" descr="C:\Users\rb064321\Desktop\Картинки\vip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49" y="980728"/>
            <a:ext cx="1334039" cy="131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819005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МОНИТОРИНГ ОПЕРАЦИЙ КЛИЕНТОВ КАТЕГОРИИ РЕР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3200008"/>
            <a:ext cx="8568952" cy="27492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9313" y="2996952"/>
            <a:ext cx="4644736" cy="4061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gray">
          <a:xfrm>
            <a:off x="466642" y="3068960"/>
            <a:ext cx="4537407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 smtClean="0">
                <a:solidFill>
                  <a:schemeClr val="bg1"/>
                </a:solidFill>
              </a:rPr>
              <a:t>МОНИТОРИНГ</a:t>
            </a:r>
            <a:endParaRPr lang="ru-RU" sz="1600" kern="0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61360" y="3501008"/>
            <a:ext cx="83150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/>
              <a:t>Удостовериться, что обслуживание всех счетов и продуктов клиента производится только в одном специализированном ДО, за которым закреплен клиент.</a:t>
            </a:r>
          </a:p>
          <a:p>
            <a:pPr lvl="0"/>
            <a:endParaRPr lang="ru-RU" sz="1600" dirty="0"/>
          </a:p>
          <a:p>
            <a:pPr lvl="0"/>
            <a:r>
              <a:rPr lang="ru-RU" sz="1600" dirty="0"/>
              <a:t>Клиент категории РЕР может осуществлять операции по снятию / внесению  наличных ниже установленного  порога (3 000 000 рублей), а также переводы между счетами ниже установленного порога ( 30 000 000 рублей)  в любом офисе банка. </a:t>
            </a:r>
          </a:p>
          <a:p>
            <a:pPr lvl="0"/>
            <a:endParaRPr lang="ru-RU" sz="1600" dirty="0"/>
          </a:p>
          <a:p>
            <a:pPr lvl="0"/>
            <a:r>
              <a:rPr lang="ru-RU" sz="1600" dirty="0"/>
              <a:t>Операции, требующие дополнительного согласования, клиент может проводить только в специализированном ДО.  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51520" y="1111776"/>
            <a:ext cx="8568952" cy="1597144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59313" y="908720"/>
            <a:ext cx="4644736" cy="406113"/>
          </a:xfrm>
          <a:prstGeom prst="rect">
            <a:avLst/>
          </a:prstGeom>
          <a:solidFill>
            <a:srgbClr val="E9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gray">
          <a:xfrm>
            <a:off x="466642" y="980728"/>
            <a:ext cx="4537407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 smtClean="0">
                <a:solidFill>
                  <a:schemeClr val="bg1"/>
                </a:solidFill>
              </a:rPr>
              <a:t>ВАЖНО</a:t>
            </a:r>
            <a:endParaRPr lang="ru-RU" sz="1600" kern="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61360" y="1412776"/>
            <a:ext cx="83150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1. Операции </a:t>
            </a:r>
            <a:r>
              <a:rPr lang="ru-RU" sz="1600" dirty="0"/>
              <a:t>клиента категории РЕР должны подлежать тщательному мониторингу</a:t>
            </a:r>
            <a:r>
              <a:rPr lang="ru-RU" sz="1600" dirty="0" smtClean="0"/>
              <a:t>. 2. Открытие </a:t>
            </a:r>
            <a:r>
              <a:rPr lang="ru-RU" sz="1600" dirty="0"/>
              <a:t> и обслуживание всех новых </a:t>
            </a:r>
            <a:r>
              <a:rPr lang="ru-RU" sz="1600" dirty="0" smtClean="0"/>
              <a:t>счетов </a:t>
            </a:r>
            <a:r>
              <a:rPr lang="ru-RU" sz="1600" dirty="0"/>
              <a:t>и продуктов клиента производится </a:t>
            </a:r>
            <a:r>
              <a:rPr lang="ru-RU" sz="2000" b="1" dirty="0" smtClean="0">
                <a:solidFill>
                  <a:srgbClr val="E95353"/>
                </a:solidFill>
              </a:rPr>
              <a:t>только в </a:t>
            </a:r>
            <a:r>
              <a:rPr lang="ru-RU" sz="2000" b="1" dirty="0">
                <a:solidFill>
                  <a:srgbClr val="E95353"/>
                </a:solidFill>
              </a:rPr>
              <a:t>одном специализированном ДО</a:t>
            </a:r>
            <a:r>
              <a:rPr lang="ru-RU" sz="1600" dirty="0"/>
              <a:t>, за которым закреплен </a:t>
            </a:r>
            <a:r>
              <a:rPr lang="ru-RU" sz="1600" dirty="0" smtClean="0"/>
              <a:t>клиент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661410204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ПРОДУКТЫ, ТРЕБУЮЩИЕ ДОПОЛНИТЕЛЬНОГО СОГЛАСОВАНИЯ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843808" y="6416675"/>
            <a:ext cx="3597275" cy="441325"/>
          </a:xfrm>
        </p:spPr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</a:t>
            </a:r>
            <a:r>
              <a:rPr lang="en-US" dirty="0" smtClean="0"/>
              <a:t>only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4911357"/>
            <a:ext cx="8568952" cy="1037923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59313" y="4708301"/>
            <a:ext cx="4644736" cy="406113"/>
          </a:xfrm>
          <a:prstGeom prst="rect">
            <a:avLst/>
          </a:prstGeom>
          <a:solidFill>
            <a:srgbClr val="E9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gray">
          <a:xfrm>
            <a:off x="466642" y="4780309"/>
            <a:ext cx="4537407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 smtClean="0">
                <a:solidFill>
                  <a:schemeClr val="bg1"/>
                </a:solidFill>
              </a:rPr>
              <a:t>ВАЖНО</a:t>
            </a:r>
            <a:endParaRPr lang="ru-RU" sz="1600" kern="0" dirty="0">
              <a:solidFill>
                <a:schemeClr val="bg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61360" y="5212357"/>
            <a:ext cx="8315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Открытие  новых  счетов и продуктов, а также обслуживание всех счетов и продуктов клиента в неспециализированных ДО </a:t>
            </a:r>
            <a:r>
              <a:rPr lang="ru-RU" sz="2000" b="1" dirty="0">
                <a:solidFill>
                  <a:srgbClr val="E95353"/>
                </a:solidFill>
              </a:rPr>
              <a:t>запрещается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923201"/>
              </p:ext>
            </p:extLst>
          </p:nvPr>
        </p:nvGraphicFramePr>
        <p:xfrm>
          <a:off x="272706" y="1124744"/>
          <a:ext cx="8547766" cy="295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3883"/>
                <a:gridCol w="4273883"/>
              </a:tblGrid>
              <a:tr h="2952328">
                <a:tc>
                  <a:txBody>
                    <a:bodyPr/>
                    <a:lstStyle/>
                    <a:p>
                      <a:pPr algn="ctr">
                        <a:buFont typeface="Wingdings" panose="05000000000000000000" pitchFamily="2" charset="2"/>
                        <a:buNone/>
                      </a:pPr>
                      <a:r>
                        <a:rPr lang="ru-RU" sz="1600" b="1" dirty="0" smtClean="0">
                          <a:solidFill>
                            <a:schemeClr val="tx1"/>
                          </a:solidFill>
                        </a:rPr>
                        <a:t>ПРОДУКТ</a:t>
                      </a:r>
                    </a:p>
                    <a:p>
                      <a:pPr algn="ctr">
                        <a:buFont typeface="Wingdings" panose="05000000000000000000" pitchFamily="2" charset="2"/>
                        <a:buNone/>
                      </a:pPr>
                      <a:endParaRPr lang="ru-RU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</a:rPr>
                        <a:t>Открытие расчетного счета  для клиентов категории РЕР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</a:rPr>
                        <a:t>Открытие расчетного счета  для родственников /лиц связанных  с  РЕР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</a:rPr>
                        <a:t>Открытие трастовых и оффшорных счетов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solidFill>
                            <a:schemeClr val="tx1"/>
                          </a:solidFill>
                        </a:rPr>
                        <a:t> Приобретение ценных бумаг</a:t>
                      </a:r>
                    </a:p>
                    <a:p>
                      <a:endParaRPr lang="ru-RU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ru-RU" sz="1600" b="1" dirty="0" smtClean="0">
                          <a:solidFill>
                            <a:schemeClr val="dk1"/>
                          </a:solidFill>
                        </a:rPr>
                        <a:t>СОГЛАСОВАНИЕ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ru-RU" sz="1600" b="1" dirty="0" smtClean="0">
                        <a:solidFill>
                          <a:schemeClr val="dk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solidFill>
                            <a:schemeClr val="dk1"/>
                          </a:solidFill>
                        </a:rPr>
                        <a:t>ДФМ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solidFill>
                            <a:schemeClr val="dk1"/>
                          </a:solidFill>
                        </a:rPr>
                        <a:t>Уполномоченный руководитель банка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solidFill>
                            <a:schemeClr val="dk1"/>
                          </a:solidFill>
                        </a:rPr>
                        <a:t>SEGL/CFT/BDG ( для </a:t>
                      </a:r>
                      <a:r>
                        <a:rPr lang="en-US" sz="1600" b="0" dirty="0" smtClean="0">
                          <a:solidFill>
                            <a:schemeClr val="dk1"/>
                          </a:solidFill>
                        </a:rPr>
                        <a:t>High Level PEP)</a:t>
                      </a:r>
                      <a:endParaRPr lang="ru-RU" sz="1600" b="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38148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ОПЕРАЦИИ, ТРЕБУЮЩИЕ ДОПОЛНИТЕЛЬНОГО СОГЛАСОВАНИЯ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14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773362" y="6416675"/>
            <a:ext cx="3597275" cy="441325"/>
          </a:xfrm>
        </p:spPr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51520" y="1114678"/>
            <a:ext cx="8568952" cy="1378218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59313" y="908720"/>
            <a:ext cx="4644736" cy="406113"/>
          </a:xfrm>
          <a:prstGeom prst="rect">
            <a:avLst/>
          </a:prstGeom>
          <a:solidFill>
            <a:srgbClr val="E9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gray">
          <a:xfrm>
            <a:off x="466642" y="980728"/>
            <a:ext cx="4537407" cy="3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 smtClean="0">
                <a:solidFill>
                  <a:schemeClr val="bg1"/>
                </a:solidFill>
              </a:rPr>
              <a:t>ВАЖНО</a:t>
            </a:r>
            <a:endParaRPr lang="ru-RU" sz="1600" kern="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61360" y="1343670"/>
            <a:ext cx="83150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В  случае, если уполномоченному менеджеру стало известно  о  предстоящей операции клиента из  списка ниже </a:t>
            </a:r>
            <a:r>
              <a:rPr lang="ru-RU" sz="1600" dirty="0" smtClean="0"/>
              <a:t>до </a:t>
            </a:r>
            <a:r>
              <a:rPr lang="ru-RU" sz="1600" dirty="0"/>
              <a:t>ее проведения, следует незамедлительно  сообщить об этом в ДФМ на рассылку </a:t>
            </a:r>
            <a:r>
              <a:rPr lang="ru-RU" sz="1600" dirty="0">
                <a:solidFill>
                  <a:srgbClr val="0000FF"/>
                </a:solidFill>
                <a:hlinkClick r:id="rId2"/>
              </a:rPr>
              <a:t>KYCDKK@rosbank.ru</a:t>
            </a:r>
            <a:r>
              <a:rPr lang="ru-RU" sz="1600" dirty="0"/>
              <a:t>, тема письма «СРОЧНО! PEP-клиент». Проведение операции до получения согласования не допускается.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251520" y="2911976"/>
            <a:ext cx="8568952" cy="339734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59312" y="2708920"/>
            <a:ext cx="6372928" cy="4061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gray">
          <a:xfrm>
            <a:off x="466642" y="2780928"/>
            <a:ext cx="6265598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>
                <a:solidFill>
                  <a:schemeClr val="bg1"/>
                </a:solidFill>
              </a:rPr>
              <a:t>Обязательному согласованию с ДФМ подлежат  операции: 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61360" y="3068960"/>
            <a:ext cx="83150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Снятие/внесение наличных денежных средств на сумму свыше 3 000 000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рублей (или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эквивалент в валюте) </a:t>
            </a: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Входящие/исходящие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переводы физическим лицам/ от физических лиц на сумму свыше 30 000 000 рублей (или эквивалент в валюте) </a:t>
            </a: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Переводы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пользу лиц категории  РЕР (не родственникам) не зависимо от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суммы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Исходящие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переводы ( в том числе заграницу) юридическим лицам на сумму свыше 30 000 000 рублей (или эквивалент в валюте) </a:t>
            </a: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Входящие/исходящие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переводы в/из страны высокого риска (кроме оффшорных стран), банки или дочерние компании таких банков  за исключением банков группы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Операции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торгового финансирования по личным счетам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Входящие/исходящие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переводы из/в нерегулируемые банки или банки офшорные юрисдикций – вне группы (IMF лист)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21608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ОПЕРАЦИИ, ТРЕБУЮЩИЕ ДОПОЛНИТЕЛЬНОГО СОГЛАСОВАНИЯ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51520" y="908720"/>
            <a:ext cx="8568952" cy="1149226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61360" y="980728"/>
            <a:ext cx="83150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Если </a:t>
            </a:r>
            <a:r>
              <a:rPr lang="ru-RU" sz="1600" dirty="0"/>
              <a:t>клиент сообщает, что намерен осуществить операцию с деталями платежа из списка ниже, менеджер должен незамедлительно  сообщить об этом в ДФМ на рассылку </a:t>
            </a:r>
            <a:r>
              <a:rPr lang="ru-RU" sz="1600" dirty="0">
                <a:solidFill>
                  <a:srgbClr val="0000FF"/>
                </a:solidFill>
                <a:hlinkClick r:id="rId2"/>
              </a:rPr>
              <a:t>KYCDKK@rosbank.ru</a:t>
            </a:r>
            <a:r>
              <a:rPr lang="ru-RU" sz="1600" dirty="0"/>
              <a:t>, тема письма </a:t>
            </a:r>
            <a:r>
              <a:rPr lang="ru-RU" sz="1600" dirty="0" smtClean="0"/>
              <a:t>«СРОЧНО</a:t>
            </a:r>
            <a:r>
              <a:rPr lang="ru-RU" sz="1600" dirty="0"/>
              <a:t>! </a:t>
            </a:r>
            <a:r>
              <a:rPr lang="ru-RU" sz="1600" dirty="0" smtClean="0"/>
              <a:t>PEP-клиент». </a:t>
            </a:r>
            <a:r>
              <a:rPr lang="ru-RU" sz="1600" dirty="0"/>
              <a:t>Проведение операции до получения согласования не допускается</a:t>
            </a:r>
            <a:r>
              <a:rPr lang="ru-RU" sz="1600" dirty="0" smtClean="0"/>
              <a:t>.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251520" y="2767960"/>
            <a:ext cx="8568952" cy="35413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59312" y="2564904"/>
            <a:ext cx="8317144" cy="6480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gray">
          <a:xfrm>
            <a:off x="179512" y="2590839"/>
            <a:ext cx="8496944" cy="40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>
                <a:solidFill>
                  <a:schemeClr val="bg1"/>
                </a:solidFill>
              </a:rPr>
              <a:t>Обязательному согласованию с ДФМ подлежат  операции, со следующими</a:t>
            </a:r>
          </a:p>
          <a:p>
            <a:pPr marL="0" indent="0" algn="ctr">
              <a:buNone/>
            </a:pPr>
            <a:r>
              <a:rPr lang="ru-RU" sz="1600" kern="0" dirty="0">
                <a:solidFill>
                  <a:schemeClr val="bg1"/>
                </a:solidFill>
              </a:rPr>
              <a:t> деталями платежа: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361360" y="3201938"/>
            <a:ext cx="831509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Инвестиции в недвижимость (кроме основного и вторичного жилья), особенно для новых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Оффшорные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инвестиции (IMF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Приобретение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 получение дохода от операций с земельными участками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(неприватизированными) в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рамках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приватизации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Покупка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 продажа предметов роскоши (яхты, частные самолеты, ювелирные украшения, автомобили, часы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Материальная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помощь не членам семьи  на суммы свыше 3 000 000 рублей (или эквивалент в валюте)  для операций с наличными и  свыше 30 000 000 рублей (или эквивалент в валюте) для операций безналичным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расчетом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Покупка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акций публичных компаний (за исключением компаний, акции которых торгуются на биржах) в рамках приватизации госкомпаний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242385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31840" y="6416675"/>
            <a:ext cx="3597275" cy="441325"/>
          </a:xfrm>
        </p:spPr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gray">
          <a:xfrm>
            <a:off x="342000" y="260350"/>
            <a:ext cx="783113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 Narrow" pitchFamily="34" charset="0"/>
              </a:defRPr>
            </a:lvl9pPr>
          </a:lstStyle>
          <a:p>
            <a:r>
              <a:rPr lang="ru-RU" sz="1600" b="1" kern="0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ОПЕРАЦИИ, ТРЕБУЮЩИЕ ДОПОЛНИТЕЛЬНОГО СОГЛАСОВАНИЯ</a:t>
            </a:r>
            <a:endParaRPr lang="ru-RU" sz="1600" b="1" kern="0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51520" y="908720"/>
            <a:ext cx="8568952" cy="1149226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61360" y="980728"/>
            <a:ext cx="83150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Если клиент сообщает, что намерен осуществить операцию с деталями платежа из списка ниже, менеджер должен незамедлительно  сообщить об этом в ДФМ на рассылку </a:t>
            </a:r>
            <a:r>
              <a:rPr lang="ru-RU" sz="1600" dirty="0">
                <a:solidFill>
                  <a:srgbClr val="0000FF"/>
                </a:solidFill>
                <a:hlinkClick r:id="rId2"/>
              </a:rPr>
              <a:t>KYCDKK@rosbank.ru</a:t>
            </a:r>
            <a:r>
              <a:rPr lang="ru-RU" sz="1600" dirty="0"/>
              <a:t>, тема письма </a:t>
            </a:r>
            <a:r>
              <a:rPr lang="ru-RU" sz="1600" dirty="0" smtClean="0"/>
              <a:t>«СРОЧНО</a:t>
            </a:r>
            <a:r>
              <a:rPr lang="ru-RU" sz="1600" dirty="0"/>
              <a:t>! </a:t>
            </a:r>
            <a:r>
              <a:rPr lang="ru-RU" sz="1600" dirty="0" smtClean="0"/>
              <a:t>PEP-клиент». </a:t>
            </a:r>
            <a:r>
              <a:rPr lang="ru-RU" sz="1600" dirty="0"/>
              <a:t>Проведение операции до получения согласования не допускается.</a:t>
            </a:r>
          </a:p>
          <a:p>
            <a:r>
              <a:rPr lang="ru-RU" sz="1600" dirty="0" smtClean="0"/>
              <a:t> 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51520" y="2551936"/>
            <a:ext cx="8568952" cy="37573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59312" y="2348880"/>
            <a:ext cx="8317144" cy="6480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gray">
          <a:xfrm>
            <a:off x="179512" y="2374815"/>
            <a:ext cx="8496944" cy="40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4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Char char=""/>
              <a:defRPr sz="1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14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1400" 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ru-RU" sz="1600" kern="0" dirty="0">
                <a:solidFill>
                  <a:schemeClr val="bg1"/>
                </a:solidFill>
              </a:rPr>
              <a:t>Обязательному согласованию с ДФМ подлежат  операции, со следующими</a:t>
            </a:r>
          </a:p>
          <a:p>
            <a:pPr marL="0" indent="0" algn="ctr">
              <a:buNone/>
            </a:pPr>
            <a:r>
              <a:rPr lang="ru-RU" sz="1600" kern="0" dirty="0">
                <a:solidFill>
                  <a:schemeClr val="bg1"/>
                </a:solidFill>
              </a:rPr>
              <a:t>деталями платежа: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361360" y="2985914"/>
            <a:ext cx="831509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Покупка </a:t>
            </a:r>
            <a:r>
              <a:rPr lang="ru-RU" sz="1600" dirty="0"/>
              <a:t>акций частных компаний </a:t>
            </a:r>
            <a:r>
              <a:rPr lang="ru-RU" sz="1600" dirty="0" smtClean="0"/>
              <a:t>РФ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Взнос </a:t>
            </a:r>
            <a:r>
              <a:rPr lang="ru-RU" sz="1600" dirty="0"/>
              <a:t>денежных средств от продажи акции компаний, не торгующихся на </a:t>
            </a:r>
            <a:r>
              <a:rPr lang="ru-RU" sz="1600" dirty="0" smtClean="0"/>
              <a:t>биржах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Доходы </a:t>
            </a:r>
            <a:r>
              <a:rPr lang="ru-RU" sz="1600" dirty="0"/>
              <a:t>от продажи/покупки  доли или заключение договора концессии в области разработки месторождений полезных ископаемых, драгоценных </a:t>
            </a:r>
            <a:r>
              <a:rPr lang="ru-RU" sz="1600" dirty="0" smtClean="0"/>
              <a:t>металлов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Кредит </a:t>
            </a:r>
            <a:r>
              <a:rPr lang="ru-RU" sz="1600" dirty="0"/>
              <a:t>с гарантией, такой как концессия, приватизированная земля и ценные товары или недвижимость без возможности установить первоначальный источник денежных </a:t>
            </a:r>
            <a:r>
              <a:rPr lang="ru-RU" sz="1600" dirty="0" smtClean="0"/>
              <a:t>средств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Любая </a:t>
            </a:r>
            <a:r>
              <a:rPr lang="ru-RU" sz="1600" dirty="0"/>
              <a:t>операция, связанная с транзакциями в рамках E&amp;S листа: загрязнение окружающей среды, финансирование оборонного </a:t>
            </a:r>
            <a:r>
              <a:rPr lang="ru-RU" sz="1600" dirty="0" smtClean="0"/>
              <a:t>комплекса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Доходы </a:t>
            </a:r>
            <a:r>
              <a:rPr lang="ru-RU" sz="1600" dirty="0"/>
              <a:t>от </a:t>
            </a:r>
            <a:r>
              <a:rPr lang="ru-RU" sz="1600" dirty="0" err="1"/>
              <a:t>высокорисковой</a:t>
            </a:r>
            <a:r>
              <a:rPr lang="ru-RU" sz="1600" dirty="0"/>
              <a:t> с точки зрения ОД/ФТ, коррупционного риска вида деятельности ( сделки с </a:t>
            </a:r>
            <a:r>
              <a:rPr lang="ru-RU" sz="1600" dirty="0" smtClean="0"/>
              <a:t>недвижимостью)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Средства</a:t>
            </a:r>
            <a:r>
              <a:rPr lang="ru-RU" sz="1600" dirty="0"/>
              <a:t>, полученные в результате такой деятельности, как консалтинг, организация торгов, </a:t>
            </a:r>
            <a:r>
              <a:rPr lang="ru-RU" sz="1600" dirty="0" smtClean="0"/>
              <a:t>бизнес-провайдеры</a:t>
            </a:r>
            <a:endParaRPr lang="ru-RU" sz="1600" dirty="0"/>
          </a:p>
          <a:p>
            <a:endParaRPr lang="ru-RU" sz="1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448377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260350"/>
            <a:ext cx="7831137" cy="500063"/>
          </a:xfrm>
        </p:spPr>
        <p:txBody>
          <a:bodyPr/>
          <a:lstStyle/>
          <a:p>
            <a:r>
              <a:rPr lang="ru-RU" sz="1600" b="1" dirty="0" smtClean="0">
                <a:solidFill>
                  <a:srgbClr val="E600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ОКОНЧАНИЕ СТАТУСА РЕР </a:t>
            </a:r>
            <a:endParaRPr lang="ru-RU" sz="1600" b="1" dirty="0">
              <a:solidFill>
                <a:srgbClr val="E600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P.</a:t>
            </a:r>
            <a:fld id="{5E092E29-6DBE-406E-81F8-C94524A9517B}" type="slidenum">
              <a:rPr lang="fr-FR" smtClean="0"/>
              <a:pPr>
                <a:defRPr/>
              </a:pPr>
              <a:t>17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C2 – </a:t>
            </a:r>
            <a:r>
              <a:rPr lang="en-US" dirty="0"/>
              <a:t>For internal use only</a:t>
            </a:r>
            <a:endParaRPr lang="fr-FR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61360" y="4625841"/>
            <a:ext cx="8459112" cy="710434"/>
          </a:xfrm>
          <a:prstGeom prst="rect">
            <a:avLst/>
          </a:prstGeom>
          <a:noFill/>
          <a:ln w="28575">
            <a:solidFill>
              <a:srgbClr val="E9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61360" y="4757082"/>
            <a:ext cx="83150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Снятие статуса РЕР возможно </a:t>
            </a:r>
            <a:r>
              <a:rPr lang="ru-RU" sz="2000" b="1" dirty="0" smtClean="0">
                <a:solidFill>
                  <a:srgbClr val="E95353"/>
                </a:solidFill>
              </a:rPr>
              <a:t>только </a:t>
            </a:r>
            <a:r>
              <a:rPr lang="ru-RU" sz="2000" b="1" dirty="0">
                <a:solidFill>
                  <a:srgbClr val="E95353"/>
                </a:solidFill>
              </a:rPr>
              <a:t>после согласования с ДФМ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61360" y="980728"/>
            <a:ext cx="831509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E95353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Для клиентов категории РEP статус сохраняется не менее 3х </a:t>
            </a:r>
            <a:r>
              <a:rPr lang="ru-RU" sz="1600" dirty="0" smtClean="0"/>
              <a:t>лет с </a:t>
            </a:r>
            <a:r>
              <a:rPr lang="ru-RU" sz="1600" dirty="0"/>
              <a:t>момента окончания полномочий на должности РЕР</a:t>
            </a:r>
            <a:r>
              <a:rPr lang="ru-RU" sz="1600" dirty="0" smtClean="0"/>
              <a:t>.</a:t>
            </a:r>
          </a:p>
          <a:p>
            <a:pPr marL="285750" lvl="0" indent="-285750">
              <a:buClr>
                <a:srgbClr val="E95353"/>
              </a:buClr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Clr>
                <a:srgbClr val="E95353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Для родственников и лиц, связанных с РЕР, возможен пересмотр статуса сразу после окончания  срока полномочий РЕР</a:t>
            </a:r>
            <a:r>
              <a:rPr lang="ru-RU" sz="1600" dirty="0" smtClean="0"/>
              <a:t>.</a:t>
            </a:r>
          </a:p>
          <a:p>
            <a:pPr marL="285750" indent="-285750">
              <a:buClr>
                <a:srgbClr val="E95353"/>
              </a:buClr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lvl="0" indent="-285750">
              <a:buClr>
                <a:srgbClr val="E95353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Для HIGH LEVEL PEP  статус  РЕР сохраняется пожизненно. </a:t>
            </a:r>
          </a:p>
          <a:p>
            <a:pPr lvl="0">
              <a:buClr>
                <a:srgbClr val="E95353"/>
              </a:buClr>
              <a:buFont typeface="Arial" panose="020B0604020202020204" pitchFamily="34" charset="0"/>
              <a:buChar char="•"/>
            </a:pPr>
            <a:endParaRPr lang="ru-RU" sz="1600" dirty="0"/>
          </a:p>
          <a:p>
            <a:pPr lvl="0">
              <a:buClr>
                <a:srgbClr val="E95353"/>
              </a:buClr>
            </a:pPr>
            <a:r>
              <a:rPr lang="ru-RU" sz="1600" dirty="0" smtClean="0"/>
              <a:t>К </a:t>
            </a:r>
            <a:r>
              <a:rPr lang="ru-RU" sz="1600" dirty="0"/>
              <a:t>НIGH LEVEL PEP относятся - Глава государства, правительства, монарх, наследный принц / принцесса (в </a:t>
            </a:r>
            <a:r>
              <a:rPr lang="ru-RU" sz="1600" dirty="0" err="1"/>
              <a:t>т.ч</a:t>
            </a:r>
            <a:r>
              <a:rPr lang="ru-RU" sz="1600" dirty="0"/>
              <a:t>. лица, занимающие эквивалентное положение, но при этом носящие иные титулы) и их заместители / </a:t>
            </a:r>
            <a:r>
              <a:rPr lang="ru-RU" sz="1600" dirty="0" smtClean="0"/>
              <a:t>советники.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66508389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PT BHFM 09092009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èle PPT BHFM 09092009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Mé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PT BHFM 09092009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PT BHFM 09092009 2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PT BHFM 09092009 3">
        <a:dk1>
          <a:srgbClr val="000000"/>
        </a:dk1>
        <a:lt1>
          <a:srgbClr val="FFFFFF"/>
        </a:lt1>
        <a:dk2>
          <a:srgbClr val="FAC850"/>
        </a:dk2>
        <a:lt2>
          <a:srgbClr val="00CDC8"/>
        </a:lt2>
        <a:accent1>
          <a:srgbClr val="E60028"/>
        </a:accent1>
        <a:accent2>
          <a:srgbClr val="3796C3"/>
        </a:accent2>
        <a:accent3>
          <a:srgbClr val="FFFFFF"/>
        </a:accent3>
        <a:accent4>
          <a:srgbClr val="000000"/>
        </a:accent4>
        <a:accent5>
          <a:srgbClr val="F0AAAC"/>
        </a:accent5>
        <a:accent6>
          <a:srgbClr val="3187B0"/>
        </a:accent6>
        <a:hlink>
          <a:srgbClr val="BEC800"/>
        </a:hlink>
        <a:folHlink>
          <a:srgbClr val="EB820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17045</TotalTime>
  <Words>1761</Words>
  <Application>Microsoft Office PowerPoint</Application>
  <PresentationFormat>Экран (4:3)</PresentationFormat>
  <Paragraphs>217</Paragraphs>
  <Slides>17</Slides>
  <Notes>4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Modèle PPT BHFM 09092009</vt:lpstr>
      <vt:lpstr>Acrobat Document</vt:lpstr>
      <vt:lpstr>  Росбанк</vt:lpstr>
      <vt:lpstr>ПУБЛИЧНОЕ ДОЛЖНОСТНОЕ ЛИЦО (РЕР)</vt:lpstr>
      <vt:lpstr> РОДСТВЕННИКИ РЕР / ЛИЦА, СВЯЗАННЫЕ С РЕР</vt:lpstr>
      <vt:lpstr>ТРЕБОВАНИЯ К ОБСЛУЖИВАНИЮ КЛИЕНТОВ РЕР</vt:lpstr>
      <vt:lpstr>ТРЕБОВАНИЯ К ОБСЛУЖИВАНИЮ КЛИЕНТОВ РЕР</vt:lpstr>
      <vt:lpstr>ТРЕБОВАНИЯ К ОБСЛУЖИВАНИЮ КЛИЕНТОВ РЕР</vt:lpstr>
      <vt:lpstr>КОНФИДЕНЦИАЛЬНОСТЬ ДОСЬЕ КЛИЕНТА РЕР</vt:lpstr>
      <vt:lpstr>ПРОЦЕСС ВЫЯВЛЕНИЯ КЛИЕНТОВ КАТЕГОРИИ  РЕР</vt:lpstr>
      <vt:lpstr>ЭТАПЫ  ПРИЕМА НА ОБСЛУЖИВАНИЕ КЛИЕНТА КАТЕГОРИИ РЕР</vt:lpstr>
      <vt:lpstr>ПОДТВЕРЖДЕНИЕ ДОХОДА ДЛЯ КЛИЕНТА КАТЕГОРИИ РЕР</vt:lpstr>
      <vt:lpstr>ПРОЦЕСС СОГЛАСОВАНИЯ ПРИЕМА НА ОБСЛУЖИВАНИЕ КЛИЕНТА КАТЕГОРИИ РЕР</vt:lpstr>
      <vt:lpstr>МОНИТОРИНГ ОПЕРАЦИЙ КЛИЕНТОВ КАТЕГОРИИ РЕР</vt:lpstr>
      <vt:lpstr>ПРОДУКТЫ, ТРЕБУЮЩИЕ ДОПОЛНИТЕЛЬНОГО СОГЛАСОВАНИЯ</vt:lpstr>
      <vt:lpstr>ОПЕРАЦИИ, ТРЕБУЮЩИЕ ДОПОЛНИТЕЛЬНОГО СОГЛАСОВАНИЯ</vt:lpstr>
      <vt:lpstr>ОПЕРАЦИИ, ТРЕБУЮЩИЕ ДОПОЛНИТЕЛЬНОГО СОГЛАСОВАНИЯ</vt:lpstr>
      <vt:lpstr>Презентация PowerPoint</vt:lpstr>
      <vt:lpstr>ОКОНЧАНИЕ СТАТУСА РЕР </vt:lpstr>
    </vt:vector>
  </TitlesOfParts>
  <Company>Société Générale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Compliance profession within BHFM</dc:title>
  <dc:creator>OUIZA YOUCEF OUALI (A379523)</dc:creator>
  <cp:lastModifiedBy>Степнова Наталья Андреевна</cp:lastModifiedBy>
  <cp:revision>1808</cp:revision>
  <cp:lastPrinted>1601-01-01T00:00:00Z</cp:lastPrinted>
  <dcterms:created xsi:type="dcterms:W3CDTF">2009-09-25T12:34:27Z</dcterms:created>
  <dcterms:modified xsi:type="dcterms:W3CDTF">2018-01-23T06:12:11Z</dcterms:modified>
</cp:coreProperties>
</file>